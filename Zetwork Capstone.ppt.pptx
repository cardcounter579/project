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024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'Zetwork is a developer team-matching app I built as my AI Engineering capstone.' Let the title and stats land — don't rush into the problem slide. About 45 seconds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the limitation isn't technical, it's conceptual. Keyword matching treats humans like database rows. Zetwork treats them like developers: what they know, what they want to build, and what kind of team they belong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 naturally. Emphasise step 2 — that's the AI Engineering. 'The engine is doing five things simultaneously and returning results in milliseconds.' Step 3 is the visual payoff — save the actual constellation for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technically interesting slide. Emphasise that the weights are intentional and tunable, not arbitrary. If a teacher asks why TF-IDF over transformers: 'TF-IDF runs in-process on a t2.micro without exceeding 1 GB RAM. Transformers are on the v2 roadmap.'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offline / online split. 'All the expensive ML happened once in Colab. At runtime the server just loads four small files and does nearest-centroid lookup — that's what keeps the free-tier EC2 running cleanly.' Teachers will recognise this as a proper MLOps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maps directly to the AWS cloud module. Mention the deployment order: RDS first (slowest to provision), then EC2, then S3. Security groups: RDS only accepts traffic from the EC2 security group, never from the open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row by row only if a teacher asks. In a live demo flow, just gesture at the table: 'Every layer of the project covers a different curriculum module — ML, backend engineering, cloud infrastructure.' The CEO doesn't need this slide explained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2-3 of the checklist items aloud, then move on. The numbers do the work. If the CEO asks what the app could do with real users: mention the roadmap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Pre-load the app tab. Script: register a new account → fill profile (JavaScript, interests: fintech, build-text: a few sentences) → click 'Find My Team' → show the constellation → click one match card to show the score breakdown. If anything fails, switch to localhost immediately — it's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brief — one sentence per phase. 'v2 replaces TF-IDF with proper sentence embeddings. v3 adds an LLM explanation layer. v4 makes it a real platform.'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 still. Don't click away from this slide during questions. If the CEO asks about the business angle: 'Hackathons, bootcamps, and open-source communities all have the same problem — finding the right co-builder fast.' Let the Q&amp;A run naturally.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28607" cy="28607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731520"/>
            <a:ext cx="50830" cy="5083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74320"/>
            <a:ext cx="35915" cy="35915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914400"/>
            <a:ext cx="43243" cy="43243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457200"/>
            <a:ext cx="55202" cy="55202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822960"/>
            <a:ext cx="32092" cy="32092"/>
          </a:xfrm>
          <a:prstGeom prst="ellipse">
            <a:avLst/>
          </a:prstGeom>
          <a:solidFill>
            <a:srgbClr val="FFFFFF">
              <a:alpha val="4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01763" y="179823"/>
            <a:ext cx="38925" cy="38925"/>
          </a:xfrm>
          <a:prstGeom prst="ellipse">
            <a:avLst/>
          </a:prstGeom>
          <a:solidFill>
            <a:srgbClr val="FFFFFF">
              <a:alpha val="3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90483" y="637023"/>
            <a:ext cx="58191" cy="58191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30563" y="362703"/>
            <a:ext cx="47827" cy="47827"/>
          </a:xfrm>
          <a:prstGeom prst="ellipse">
            <a:avLst/>
          </a:prstGeom>
          <a:solidFill>
            <a:srgbClr val="FFFFFF">
              <a:alpha val="4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280160"/>
            <a:ext cx="55411" cy="55411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188720"/>
            <a:ext cx="31915" cy="31915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6003" y="1551423"/>
            <a:ext cx="55136" cy="55136"/>
          </a:xfrm>
          <a:prstGeom prst="ellipse">
            <a:avLst/>
          </a:prstGeom>
          <a:solidFill>
            <a:srgbClr val="FFFFFF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76181" y="3713137"/>
            <a:ext cx="43051" cy="43051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6243" y="1734303"/>
            <a:ext cx="55274" cy="55274"/>
          </a:xfrm>
          <a:prstGeom prst="ellipse">
            <a:avLst/>
          </a:prstGeom>
          <a:solidFill>
            <a:srgbClr val="FFFFFF">
              <a:alpha val="4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60320"/>
            <a:ext cx="54015" cy="54015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2926080"/>
            <a:ext cx="42888" cy="42888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2377440"/>
            <a:ext cx="28088" cy="28088"/>
          </a:xfrm>
          <a:prstGeom prst="ellipse">
            <a:avLst/>
          </a:prstGeom>
          <a:solidFill>
            <a:srgbClr val="FFFFFF">
              <a:alpha val="3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3200400"/>
            <a:ext cx="43939" cy="43939"/>
          </a:xfrm>
          <a:prstGeom prst="ellipse">
            <a:avLst/>
          </a:prstGeom>
          <a:solidFill>
            <a:srgbClr val="FFFFFF">
              <a:alpha val="4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651760"/>
            <a:ext cx="39853" cy="39853"/>
          </a:xfrm>
          <a:prstGeom prst="ellipse">
            <a:avLst/>
          </a:prstGeom>
          <a:solidFill>
            <a:srgbClr val="FFFFFF">
              <a:alpha val="3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017520"/>
            <a:ext cx="41325" cy="41325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2468880"/>
            <a:ext cx="27548" cy="2754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2743200"/>
            <a:ext cx="35348" cy="3534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749040"/>
            <a:ext cx="56980" cy="56980"/>
          </a:xfrm>
          <a:prstGeom prst="ellipse">
            <a:avLst/>
          </a:prstGeom>
          <a:solidFill>
            <a:srgbClr val="FFFFFF">
              <a:alpha val="6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37360" y="4206240"/>
            <a:ext cx="46868" cy="46868"/>
          </a:xfrm>
          <a:prstGeom prst="ellipse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57502" y="1221566"/>
            <a:ext cx="46779" cy="46779"/>
          </a:xfrm>
          <a:prstGeom prst="ellipse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0" y="4389120"/>
            <a:ext cx="54656" cy="54656"/>
          </a:xfrm>
          <a:prstGeom prst="ellipse">
            <a:avLst/>
          </a:prstGeom>
          <a:solidFill>
            <a:srgbClr val="FFFFFF">
              <a:alpha val="5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3931920"/>
            <a:ext cx="52004" cy="52004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77512" y="4598339"/>
            <a:ext cx="44392" cy="44392"/>
          </a:xfrm>
          <a:prstGeom prst="ellipse">
            <a:avLst/>
          </a:prstGeom>
          <a:solidFill>
            <a:srgbClr val="FFFFFF">
              <a:alpha val="5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95360" y="4572000"/>
            <a:ext cx="26658" cy="26658"/>
          </a:xfrm>
          <a:prstGeom prst="ellipse">
            <a:avLst/>
          </a:prstGeom>
          <a:solidFill>
            <a:srgbClr val="FFFFFF">
              <a:alpha val="4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0240" y="4754880"/>
            <a:ext cx="47908" cy="47908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1920" y="4663440"/>
            <a:ext cx="37837" cy="37837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4846320"/>
            <a:ext cx="47727" cy="47727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" y="4937760"/>
            <a:ext cx="42978" cy="42978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13141" y="3164497"/>
            <a:ext cx="731520" cy="457200"/>
          </a:xfrm>
          <a:prstGeom prst="line">
            <a:avLst/>
          </a:prstGeom>
          <a:noFill/>
          <a:ln w="9525">
            <a:solidFill>
              <a:srgbClr val="5B6ECD">
                <a:alpha val="45000"/>
              </a:srgbClr>
            </a:solidFill>
            <a:prstDash val="sysDot"/>
          </a:ln>
        </p:spPr>
      </p:sp>
      <p:sp>
        <p:nvSpPr>
          <p:cNvPr id="41" name="Shape 39"/>
          <p:cNvSpPr/>
          <p:nvPr/>
        </p:nvSpPr>
        <p:spPr>
          <a:xfrm>
            <a:off x="2544661" y="3621697"/>
            <a:ext cx="822960" cy="0"/>
          </a:xfrm>
          <a:prstGeom prst="line">
            <a:avLst/>
          </a:prstGeom>
          <a:noFill/>
          <a:ln w="9525">
            <a:solidFill>
              <a:srgbClr val="5B6ECD">
                <a:alpha val="45000"/>
              </a:srgbClr>
            </a:solidFill>
            <a:prstDash val="sysDot"/>
          </a:ln>
        </p:spPr>
      </p:sp>
      <p:sp>
        <p:nvSpPr>
          <p:cNvPr id="42" name="Shape 40"/>
          <p:cNvSpPr/>
          <p:nvPr/>
        </p:nvSpPr>
        <p:spPr>
          <a:xfrm>
            <a:off x="3367621" y="3347377"/>
            <a:ext cx="640080" cy="548640"/>
          </a:xfrm>
          <a:prstGeom prst="line">
            <a:avLst/>
          </a:prstGeom>
          <a:noFill/>
          <a:ln w="9525">
            <a:solidFill>
              <a:srgbClr val="5B6ECD">
                <a:alpha val="45000"/>
              </a:srgbClr>
            </a:solidFill>
            <a:prstDash val="sysDot"/>
          </a:ln>
        </p:spPr>
      </p:sp>
      <p:sp>
        <p:nvSpPr>
          <p:cNvPr id="43" name="Shape 41"/>
          <p:cNvSpPr/>
          <p:nvPr/>
        </p:nvSpPr>
        <p:spPr>
          <a:xfrm>
            <a:off x="2544661" y="3621697"/>
            <a:ext cx="274320" cy="731520"/>
          </a:xfrm>
          <a:prstGeom prst="line">
            <a:avLst/>
          </a:prstGeom>
          <a:noFill/>
          <a:ln w="9525">
            <a:solidFill>
              <a:srgbClr val="5B6ECD">
                <a:alpha val="45000"/>
              </a:srgbClr>
            </a:solidFill>
            <a:prstDash val="sysDot"/>
          </a:ln>
        </p:spPr>
      </p:sp>
      <p:sp>
        <p:nvSpPr>
          <p:cNvPr id="44" name="Shape 42"/>
          <p:cNvSpPr/>
          <p:nvPr/>
        </p:nvSpPr>
        <p:spPr>
          <a:xfrm>
            <a:off x="1749133" y="3100489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03413" y="3054769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80653" y="3557689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34933" y="3511969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03613" y="3283369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57893" y="3237649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43693" y="3832009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97973" y="3786289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54973" y="4289209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09253" y="4243489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2880" y="1142983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6400" dirty="0"/>
          </a:p>
        </p:txBody>
      </p:sp>
      <p:sp>
        <p:nvSpPr>
          <p:cNvPr id="55" name="Text 53"/>
          <p:cNvSpPr/>
          <p:nvPr/>
        </p:nvSpPr>
        <p:spPr>
          <a:xfrm>
            <a:off x="1325880" y="1280143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ZETWORK</a:t>
            </a:r>
            <a:endParaRPr lang="en-US" sz="5400" dirty="0"/>
          </a:p>
        </p:txBody>
      </p:sp>
      <p:sp>
        <p:nvSpPr>
          <p:cNvPr id="56" name="Text 54"/>
          <p:cNvSpPr/>
          <p:nvPr/>
        </p:nvSpPr>
        <p:spPr>
          <a:xfrm>
            <a:off x="1325880" y="2280039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perfect engineering team 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by skill, intent, and cosmic fit.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1411453" y="2173249"/>
            <a:ext cx="3474720" cy="7391"/>
          </a:xfrm>
          <a:prstGeom prst="line">
            <a:avLst/>
          </a:prstGeom>
          <a:noFill/>
          <a:ln w="9525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31547" y="3796112"/>
            <a:ext cx="2546843" cy="3530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BOLDBAATAR BOLOR</a:t>
            </a:r>
            <a:endParaRPr lang="en-US" sz="1500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CEE734BF-B8FD-1125-7448-3BFB80BDB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708" y="1016352"/>
            <a:ext cx="2098063" cy="2696785"/>
          </a:xfrm>
          <a:prstGeom prst="rect">
            <a:avLst/>
          </a:prstGeom>
        </p:spPr>
      </p:pic>
      <p:sp>
        <p:nvSpPr>
          <p:cNvPr id="75" name="Text 54">
            <a:extLst>
              <a:ext uri="{FF2B5EF4-FFF2-40B4-BE49-F238E27FC236}">
                <a16:creationId xmlns:a16="http://schemas.microsoft.com/office/drawing/2014/main" id="{C47F046A-2007-4B26-9B9D-2BABF20F72BE}"/>
              </a:ext>
            </a:extLst>
          </p:cNvPr>
          <p:cNvSpPr/>
          <p:nvPr/>
        </p:nvSpPr>
        <p:spPr>
          <a:xfrm>
            <a:off x="5931547" y="4097423"/>
            <a:ext cx="2267917" cy="412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Academy Asia  |  Cohort 2</a:t>
            </a:r>
            <a:endParaRPr lang="en-US" sz="1400" dirty="0"/>
          </a:p>
        </p:txBody>
      </p:sp>
      <p:sp>
        <p:nvSpPr>
          <p:cNvPr id="76" name="Shape 55">
            <a:extLst>
              <a:ext uri="{FF2B5EF4-FFF2-40B4-BE49-F238E27FC236}">
                <a16:creationId xmlns:a16="http://schemas.microsoft.com/office/drawing/2014/main" id="{5DDC7342-F8A7-C0F0-8CE2-E1A79131C372}"/>
              </a:ext>
            </a:extLst>
          </p:cNvPr>
          <p:cNvSpPr/>
          <p:nvPr/>
        </p:nvSpPr>
        <p:spPr>
          <a:xfrm flipV="1">
            <a:off x="6006708" y="4127148"/>
            <a:ext cx="2098063" cy="2207"/>
          </a:xfrm>
          <a:prstGeom prst="line">
            <a:avLst/>
          </a:prstGeom>
          <a:noFill/>
          <a:ln w="9525">
            <a:solidFill>
              <a:srgbClr val="C9A84C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59176" cy="5917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731520"/>
            <a:ext cx="31656" cy="31656"/>
          </a:xfrm>
          <a:prstGeom prst="ellipse">
            <a:avLst/>
          </a:prstGeom>
          <a:solidFill>
            <a:srgbClr val="FFFFFF">
              <a:alpha val="6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74320"/>
            <a:ext cx="50992" cy="50992"/>
          </a:xfrm>
          <a:prstGeom prst="ellipse">
            <a:avLst/>
          </a:prstGeom>
          <a:solidFill>
            <a:srgbClr val="FFFFFF">
              <a:alpha val="5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914400"/>
            <a:ext cx="24940" cy="24940"/>
          </a:xfrm>
          <a:prstGeom prst="ellipse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457200"/>
            <a:ext cx="34880" cy="34880"/>
          </a:xfrm>
          <a:prstGeom prst="ellipse">
            <a:avLst/>
          </a:prstGeom>
          <a:solidFill>
            <a:srgbClr val="FFFFFF">
              <a:alpha val="5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822960"/>
            <a:ext cx="38201" cy="38201"/>
          </a:xfrm>
          <a:prstGeom prst="ellipse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82880"/>
            <a:ext cx="38493" cy="38493"/>
          </a:xfrm>
          <a:prstGeom prst="ellipse">
            <a:avLst/>
          </a:prstGeom>
          <a:solidFill>
            <a:srgbClr val="FFFFFF">
              <a:alpha val="3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640080"/>
            <a:ext cx="36881" cy="36881"/>
          </a:xfrm>
          <a:prstGeom prst="ellipse">
            <a:avLst/>
          </a:prstGeom>
          <a:solidFill>
            <a:srgbClr val="FFFFFF">
              <a:alpha val="5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365760"/>
            <a:ext cx="35238" cy="35238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280160"/>
            <a:ext cx="47992" cy="47992"/>
          </a:xfrm>
          <a:prstGeom prst="ellipse">
            <a:avLst/>
          </a:prstGeom>
          <a:solidFill>
            <a:srgbClr val="FFFFFF">
              <a:alpha val="4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1737360"/>
            <a:ext cx="40182" cy="40182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371600"/>
            <a:ext cx="27538" cy="27538"/>
          </a:xfrm>
          <a:prstGeom prst="ellipse">
            <a:avLst/>
          </a:prstGeom>
          <a:solidFill>
            <a:srgbClr val="FFFFFF">
              <a:alpha val="4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645920"/>
            <a:ext cx="31599" cy="31599"/>
          </a:xfrm>
          <a:prstGeom prst="ellipse">
            <a:avLst/>
          </a:prstGeom>
          <a:solidFill>
            <a:srgbClr val="FFFFFF">
              <a:alpha val="6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188720"/>
            <a:ext cx="50370" cy="50370"/>
          </a:xfrm>
          <a:prstGeom prst="ellipse">
            <a:avLst/>
          </a:prstGeom>
          <a:solidFill>
            <a:srgbClr val="FFFFFF">
              <a:alpha val="5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554480"/>
            <a:ext cx="44417" cy="44417"/>
          </a:xfrm>
          <a:prstGeom prst="ellipse">
            <a:avLst/>
          </a:prstGeom>
          <a:solidFill>
            <a:srgbClr val="FFFFFF">
              <a:alpha val="6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1097280"/>
            <a:ext cx="49382" cy="49382"/>
          </a:xfrm>
          <a:prstGeom prst="ellipse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737360"/>
            <a:ext cx="25522" cy="25522"/>
          </a:xfrm>
          <a:prstGeom prst="ellipse">
            <a:avLst/>
          </a:prstGeom>
          <a:solidFill>
            <a:srgbClr val="FFFFFF">
              <a:alpha val="5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60320"/>
            <a:ext cx="31195" cy="31195"/>
          </a:xfrm>
          <a:prstGeom prst="ellipse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2926080"/>
            <a:ext cx="50922" cy="50922"/>
          </a:xfrm>
          <a:prstGeom prst="ellipse">
            <a:avLst/>
          </a:prstGeom>
          <a:solidFill>
            <a:srgbClr val="FFFFFF">
              <a:alpha val="3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2377440"/>
            <a:ext cx="24597" cy="24597"/>
          </a:xfrm>
          <a:prstGeom prst="ellipse">
            <a:avLst/>
          </a:prstGeom>
          <a:solidFill>
            <a:srgbClr val="FFFFFF">
              <a:alpha val="3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3200400"/>
            <a:ext cx="35622" cy="35622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651760"/>
            <a:ext cx="56802" cy="56802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017520"/>
            <a:ext cx="47820" cy="47820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2468880"/>
            <a:ext cx="50116" cy="50116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2743200"/>
            <a:ext cx="47055" cy="47055"/>
          </a:xfrm>
          <a:prstGeom prst="ellipse">
            <a:avLst/>
          </a:prstGeom>
          <a:solidFill>
            <a:srgbClr val="FFFFFF">
              <a:alpha val="4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749040"/>
            <a:ext cx="53926" cy="53926"/>
          </a:xfrm>
          <a:prstGeom prst="ellipse">
            <a:avLst/>
          </a:prstGeom>
          <a:solidFill>
            <a:srgbClr val="FFFFFF">
              <a:alpha val="6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37360" y="4206240"/>
            <a:ext cx="44055" cy="44055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0" y="3840480"/>
            <a:ext cx="51608" cy="5160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lists can't match people.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457200" y="14630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B2255"/>
          </a:solidFill>
          <a:ln w="6350">
            <a:solidFill>
              <a:srgbClr val="5B6ECD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64208"/>
            <a:ext cx="548640" cy="54864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94360" y="233172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Overlap Isn't Fit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21792" y="2816352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React developers with identical stacks often want to build completely different things. A matching system that only compares skill labels will pair them anyway.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310128" y="14630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B2255"/>
          </a:solidFill>
          <a:ln w="6350">
            <a:solidFill>
              <a:srgbClr val="5B6ECD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664208"/>
            <a:ext cx="548640" cy="54864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3447288" y="233172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 Is Invisible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3474720" y="2816352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someone wants to build — a fintech tool, a game, an OS utility — reveals compatibility better than any keyword list. But it lives in free text, not structured data.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6163056" y="14630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B2255"/>
          </a:solidFill>
          <a:ln w="6350">
            <a:solidFill>
              <a:srgbClr val="5B6ECD">
                <a:alpha val="5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1664208"/>
            <a:ext cx="548640" cy="54864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300216" y="233172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Diversity Gets Ignored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6327648" y="2816352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teams usually need complementary skills, not copies of the same archetype. Naive similarity matching rewards sameness and punishes the gaps that make teams powerful.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37019" cy="37019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731520"/>
            <a:ext cx="54541" cy="54541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74320"/>
            <a:ext cx="47870" cy="4787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914400"/>
            <a:ext cx="57529" cy="57529"/>
          </a:xfrm>
          <a:prstGeom prst="ellipse">
            <a:avLst/>
          </a:prstGeom>
          <a:solidFill>
            <a:srgbClr val="FFFFFF">
              <a:alpha val="5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457200"/>
            <a:ext cx="47686" cy="47686"/>
          </a:xfrm>
          <a:prstGeom prst="ellipse">
            <a:avLst/>
          </a:prstGeom>
          <a:solidFill>
            <a:srgbClr val="FFFFFF">
              <a:alpha val="3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822960"/>
            <a:ext cx="25963" cy="25963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82880"/>
            <a:ext cx="31018" cy="31018"/>
          </a:xfrm>
          <a:prstGeom prst="ellipse">
            <a:avLst/>
          </a:prstGeom>
          <a:solidFill>
            <a:srgbClr val="FFFFFF">
              <a:alpha val="3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640080"/>
            <a:ext cx="35078" cy="35078"/>
          </a:xfrm>
          <a:prstGeom prst="ellipse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365760"/>
            <a:ext cx="58669" cy="58669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280160"/>
            <a:ext cx="26217" cy="26217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1737360"/>
            <a:ext cx="31081" cy="31081"/>
          </a:xfrm>
          <a:prstGeom prst="ellipse">
            <a:avLst/>
          </a:prstGeom>
          <a:solidFill>
            <a:srgbClr val="FFFFFF">
              <a:alpha val="5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371600"/>
            <a:ext cx="26927" cy="26927"/>
          </a:xfrm>
          <a:prstGeom prst="ellipse">
            <a:avLst/>
          </a:prstGeom>
          <a:solidFill>
            <a:srgbClr val="FFFFFF">
              <a:alpha val="7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645920"/>
            <a:ext cx="45900" cy="45900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188720"/>
            <a:ext cx="26797" cy="26797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554480"/>
            <a:ext cx="40189" cy="40189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1097280"/>
            <a:ext cx="49959" cy="49959"/>
          </a:xfrm>
          <a:prstGeom prst="ellipse">
            <a:avLst/>
          </a:prstGeom>
          <a:solidFill>
            <a:srgbClr val="FFFFFF">
              <a:alpha val="3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737360"/>
            <a:ext cx="35366" cy="35366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60320"/>
            <a:ext cx="45539" cy="45539"/>
          </a:xfrm>
          <a:prstGeom prst="ellipse">
            <a:avLst/>
          </a:prstGeom>
          <a:solidFill>
            <a:srgbClr val="FFFFFF">
              <a:alpha val="4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2926080"/>
            <a:ext cx="42773" cy="42773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2377440"/>
            <a:ext cx="23346" cy="23346"/>
          </a:xfrm>
          <a:prstGeom prst="ellipse">
            <a:avLst/>
          </a:prstGeom>
          <a:solidFill>
            <a:srgbClr val="FFFFFF">
              <a:alpha val="3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3200400"/>
            <a:ext cx="32209" cy="32209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651760"/>
            <a:ext cx="35589" cy="35589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three-step journey from profile to team.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1325880" y="1417320"/>
            <a:ext cx="749808" cy="749808"/>
          </a:xfrm>
          <a:prstGeom prst="ellipse">
            <a:avLst/>
          </a:prstGeom>
          <a:solidFill>
            <a:srgbClr val="C9A84C">
              <a:alpha val="12000"/>
            </a:srgbClr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1435608"/>
            <a:ext cx="7498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11480" y="233172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1B2255"/>
          </a:solidFill>
          <a:ln w="5080">
            <a:solidFill>
              <a:srgbClr val="C9A84C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487168"/>
            <a:ext cx="548640" cy="5486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21208" y="31272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Profile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48640" y="3547872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languages, interests, and a short paragraph describing what you want to build. Select your zodiac sign. The system infers your developer archetype automatically.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017520" y="3127248"/>
            <a:ext cx="246888" cy="0"/>
          </a:xfrm>
          <a:prstGeom prst="line">
            <a:avLst/>
          </a:prstGeom>
          <a:noFill/>
          <a:ln w="190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178808" y="1417320"/>
            <a:ext cx="749808" cy="749808"/>
          </a:xfrm>
          <a:prstGeom prst="ellipse">
            <a:avLst/>
          </a:prstGeom>
          <a:solidFill>
            <a:srgbClr val="C9A84C">
              <a:alpha val="12000"/>
            </a:srgbClr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78808" y="1435608"/>
            <a:ext cx="7498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3264408" y="233172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1B2255"/>
          </a:solidFill>
          <a:ln w="5080">
            <a:solidFill>
              <a:srgbClr val="C9A84C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2487168"/>
            <a:ext cx="548640" cy="54864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3374136" y="31272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Scores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3401568" y="3547872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weighted factors — semantic similarity, skill complementarity, shared interests, archetype fit, and zodiac element compatibility — produce a ranked score for every other developer.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5870448" y="3127248"/>
            <a:ext cx="246888" cy="0"/>
          </a:xfrm>
          <a:prstGeom prst="line">
            <a:avLst/>
          </a:prstGeom>
          <a:noFill/>
          <a:ln w="1905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031736" y="1417320"/>
            <a:ext cx="749808" cy="749808"/>
          </a:xfrm>
          <a:prstGeom prst="ellipse">
            <a:avLst/>
          </a:prstGeom>
          <a:solidFill>
            <a:srgbClr val="C9A84C">
              <a:alpha val="12000"/>
            </a:srgbClr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031736" y="1435608"/>
            <a:ext cx="7498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42" name="Shape 38"/>
          <p:cNvSpPr/>
          <p:nvPr/>
        </p:nvSpPr>
        <p:spPr>
          <a:xfrm>
            <a:off x="6117336" y="233172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1B2255"/>
          </a:solidFill>
          <a:ln w="5080">
            <a:solidFill>
              <a:srgbClr val="C9A84C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76" y="2487168"/>
            <a:ext cx="548640" cy="54864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6227064" y="31272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Your Matches</a:t>
            </a:r>
            <a:endParaRPr lang="en-US" sz="1250" dirty="0"/>
          </a:p>
        </p:txBody>
      </p:sp>
      <p:sp>
        <p:nvSpPr>
          <p:cNvPr id="45" name="Text 40"/>
          <p:cNvSpPr/>
          <p:nvPr/>
        </p:nvSpPr>
        <p:spPr>
          <a:xfrm>
            <a:off x="6254496" y="3547872"/>
            <a:ext cx="2331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appear as a constellation — brighter nodes rank higher. Click any node to see a detailed match card with compatibility scores, shared interests, and zodiac glyphs.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6600" cy="46600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731520"/>
            <a:ext cx="43412" cy="43412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74320"/>
            <a:ext cx="42370" cy="4237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914400"/>
            <a:ext cx="31085" cy="31085"/>
          </a:xfrm>
          <a:prstGeom prst="ellipse">
            <a:avLst/>
          </a:prstGeom>
          <a:solidFill>
            <a:srgbClr val="FFFFFF">
              <a:alpha val="6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457200"/>
            <a:ext cx="51627" cy="51627"/>
          </a:xfrm>
          <a:prstGeom prst="ellipse">
            <a:avLst/>
          </a:prstGeom>
          <a:solidFill>
            <a:srgbClr val="FFFFFF">
              <a:alpha val="5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822960"/>
            <a:ext cx="57216" cy="57216"/>
          </a:xfrm>
          <a:prstGeom prst="ellipse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82880"/>
            <a:ext cx="33184" cy="33184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640080"/>
            <a:ext cx="25415" cy="25415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365760"/>
            <a:ext cx="52129" cy="52129"/>
          </a:xfrm>
          <a:prstGeom prst="ellipse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280160"/>
            <a:ext cx="37614" cy="37614"/>
          </a:xfrm>
          <a:prstGeom prst="ellipse">
            <a:avLst/>
          </a:prstGeom>
          <a:solidFill>
            <a:srgbClr val="FFFFFF">
              <a:alpha val="4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1737360"/>
            <a:ext cx="40106" cy="40106"/>
          </a:xfrm>
          <a:prstGeom prst="ellipse">
            <a:avLst/>
          </a:prstGeom>
          <a:solidFill>
            <a:srgbClr val="FFFFFF">
              <a:alpha val="4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371600"/>
            <a:ext cx="34668" cy="34668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645920"/>
            <a:ext cx="29977" cy="29977"/>
          </a:xfrm>
          <a:prstGeom prst="ellipse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188720"/>
            <a:ext cx="35258" cy="35258"/>
          </a:xfrm>
          <a:prstGeom prst="ellipse">
            <a:avLst/>
          </a:prstGeom>
          <a:solidFill>
            <a:srgbClr val="FFFFFF">
              <a:alpha val="4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554480"/>
            <a:ext cx="28504" cy="28504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1097280"/>
            <a:ext cx="57521" cy="57521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737360"/>
            <a:ext cx="25958" cy="25958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60320"/>
            <a:ext cx="55750" cy="55750"/>
          </a:xfrm>
          <a:prstGeom prst="ellipse">
            <a:avLst/>
          </a:prstGeom>
          <a:solidFill>
            <a:srgbClr val="FFFFFF">
              <a:alpha val="4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594360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factors. One ranked score.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7200" y="1417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(TF-IDF cosine)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29000" y="14173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1700784"/>
            <a:ext cx="3474720" cy="128016"/>
          </a:xfrm>
          <a:prstGeom prst="roundRect">
            <a:avLst>
              <a:gd name="adj" fmla="val 35714"/>
            </a:avLst>
          </a:prstGeom>
          <a:solidFill>
            <a:srgbClr val="1B2255"/>
          </a:solidFill>
          <a:ln w="12700">
            <a:solidFill>
              <a:srgbClr val="1B22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1700784"/>
            <a:ext cx="1042416" cy="128016"/>
          </a:xfrm>
          <a:prstGeom prst="roundRect">
            <a:avLst>
              <a:gd name="adj" fmla="val 35714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1305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Complementarity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29000" y="21305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7B8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2414016"/>
            <a:ext cx="3474720" cy="128016"/>
          </a:xfrm>
          <a:prstGeom prst="roundRect">
            <a:avLst>
              <a:gd name="adj" fmla="val 35714"/>
            </a:avLst>
          </a:prstGeom>
          <a:solidFill>
            <a:srgbClr val="1B2255"/>
          </a:solidFill>
          <a:ln w="12700">
            <a:solidFill>
              <a:srgbClr val="1B22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414016"/>
            <a:ext cx="868680" cy="128016"/>
          </a:xfrm>
          <a:prstGeom prst="roundRect">
            <a:avLst>
              <a:gd name="adj" fmla="val 35714"/>
            </a:avLst>
          </a:prstGeom>
          <a:solidFill>
            <a:srgbClr val="7B8EE8"/>
          </a:solidFill>
          <a:ln w="12700">
            <a:solidFill>
              <a:srgbClr val="7B8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8437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Interests (Jaccard)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429000" y="284378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3127248"/>
            <a:ext cx="3474720" cy="128016"/>
          </a:xfrm>
          <a:prstGeom prst="roundRect">
            <a:avLst>
              <a:gd name="adj" fmla="val 35714"/>
            </a:avLst>
          </a:prstGeom>
          <a:solidFill>
            <a:srgbClr val="1B2255"/>
          </a:solidFill>
          <a:ln w="12700">
            <a:solidFill>
              <a:srgbClr val="1B22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127248"/>
            <a:ext cx="521208" cy="128016"/>
          </a:xfrm>
          <a:prstGeom prst="roundRect">
            <a:avLst>
              <a:gd name="adj" fmla="val 35714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5570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 Fit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429000" y="35570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E8C7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3474720" cy="128016"/>
          </a:xfrm>
          <a:prstGeom prst="roundRect">
            <a:avLst>
              <a:gd name="adj" fmla="val 35714"/>
            </a:avLst>
          </a:prstGeom>
          <a:solidFill>
            <a:srgbClr val="1B2255"/>
          </a:solidFill>
          <a:ln w="12700">
            <a:solidFill>
              <a:srgbClr val="1B22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840480"/>
            <a:ext cx="521208" cy="128016"/>
          </a:xfrm>
          <a:prstGeom prst="roundRect">
            <a:avLst>
              <a:gd name="adj" fmla="val 35714"/>
            </a:avLst>
          </a:prstGeom>
          <a:solidFill>
            <a:srgbClr val="E8C76A"/>
          </a:solidFill>
          <a:ln w="12700">
            <a:solidFill>
              <a:srgbClr val="E8C7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702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Zodiac Element Compatibility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429000" y="42702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5B6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7200" y="4553712"/>
            <a:ext cx="3474720" cy="128016"/>
          </a:xfrm>
          <a:prstGeom prst="roundRect">
            <a:avLst>
              <a:gd name="adj" fmla="val 35714"/>
            </a:avLst>
          </a:prstGeom>
          <a:solidFill>
            <a:srgbClr val="1B2255"/>
          </a:solidFill>
          <a:ln w="12700">
            <a:solidFill>
              <a:srgbClr val="1B22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553712"/>
            <a:ext cx="521208" cy="128016"/>
          </a:xfrm>
          <a:prstGeom prst="roundRect">
            <a:avLst>
              <a:gd name="adj" fmla="val 35714"/>
            </a:avLst>
          </a:prstGeom>
          <a:solidFill>
            <a:srgbClr val="5B6ECD"/>
          </a:solidFill>
          <a:ln w="12700">
            <a:solidFill>
              <a:srgbClr val="5B6EC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51960" y="1325880"/>
            <a:ext cx="0" cy="3383280"/>
          </a:xfrm>
          <a:prstGeom prst="line">
            <a:avLst/>
          </a:prstGeom>
          <a:noFill/>
          <a:ln w="635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34840" y="1325880"/>
            <a:ext cx="4297680" cy="1005840"/>
          </a:xfrm>
          <a:prstGeom prst="roundRect">
            <a:avLst>
              <a:gd name="adj" fmla="val 9091"/>
            </a:avLst>
          </a:prstGeom>
          <a:solidFill>
            <a:srgbClr val="1B2255"/>
          </a:solidFill>
          <a:ln w="5080">
            <a:solidFill>
              <a:srgbClr val="5B6ECD">
                <a:alpha val="4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17720" y="14447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on Build-Text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1772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over free-text paragraphs. Captures intent, not just keywords.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434840" y="2514600"/>
            <a:ext cx="4297680" cy="1005840"/>
          </a:xfrm>
          <a:prstGeom prst="roundRect">
            <a:avLst>
              <a:gd name="adj" fmla="val 9091"/>
            </a:avLst>
          </a:prstGeom>
          <a:solidFill>
            <a:srgbClr val="1B2255"/>
          </a:solidFill>
          <a:ln w="5080">
            <a:solidFill>
              <a:srgbClr val="5B6ECD">
                <a:alpha val="4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617720" y="2633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Complementarity Score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1772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skill gaps, not overlaps. A systems dev + a full-stack dev ranks above two identical stacks.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434840" y="3703320"/>
            <a:ext cx="4297680" cy="1005840"/>
          </a:xfrm>
          <a:prstGeom prst="roundRect">
            <a:avLst>
              <a:gd name="adj" fmla="val 9091"/>
            </a:avLst>
          </a:prstGeom>
          <a:solidFill>
            <a:srgbClr val="1B2255"/>
          </a:solidFill>
          <a:ln w="5080">
            <a:solidFill>
              <a:srgbClr val="5B6ECD">
                <a:alpha val="4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617720" y="3822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Zodiac as Personality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617720" y="4114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groups (Fire/Earth/Air/Water) proxy for working style. Not astrology — a deliberate, explainable soft signal.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57257" cy="57257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731520"/>
            <a:ext cx="55206" cy="55206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74320"/>
            <a:ext cx="35178" cy="3517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914400"/>
            <a:ext cx="43562" cy="43562"/>
          </a:xfrm>
          <a:prstGeom prst="ellipse">
            <a:avLst/>
          </a:prstGeom>
          <a:solidFill>
            <a:srgbClr val="FFFFFF">
              <a:alpha val="2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457200"/>
            <a:ext cx="49480" cy="49480"/>
          </a:xfrm>
          <a:prstGeom prst="ellipse">
            <a:avLst/>
          </a:prstGeom>
          <a:solidFill>
            <a:srgbClr val="FFFFFF">
              <a:alpha val="6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822960"/>
            <a:ext cx="28548" cy="28548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82880"/>
            <a:ext cx="45091" cy="45091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640080"/>
            <a:ext cx="24647" cy="24647"/>
          </a:xfrm>
          <a:prstGeom prst="ellipse">
            <a:avLst/>
          </a:prstGeom>
          <a:solidFill>
            <a:srgbClr val="FFFFFF">
              <a:alpha val="7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365760"/>
            <a:ext cx="54501" cy="54501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280160"/>
            <a:ext cx="35722" cy="35722"/>
          </a:xfrm>
          <a:prstGeom prst="ellipse">
            <a:avLst/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1737360"/>
            <a:ext cx="26197" cy="26197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371600"/>
            <a:ext cx="48804" cy="488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645920"/>
            <a:ext cx="29442" cy="2944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188720"/>
            <a:ext cx="38418" cy="38418"/>
          </a:xfrm>
          <a:prstGeom prst="ellipse">
            <a:avLst/>
          </a:prstGeom>
          <a:solidFill>
            <a:srgbClr val="FFFFFF">
              <a:alpha val="7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554480"/>
            <a:ext cx="58257" cy="58257"/>
          </a:xfrm>
          <a:prstGeom prst="ellipse">
            <a:avLst/>
          </a:prstGeom>
          <a:solidFill>
            <a:srgbClr val="FFFFFF">
              <a:alpha val="4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1097280"/>
            <a:ext cx="35972" cy="35972"/>
          </a:xfrm>
          <a:prstGeom prst="ellipse">
            <a:avLst/>
          </a:prstGeom>
          <a:solidFill>
            <a:srgbClr val="FFFFFF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737360"/>
            <a:ext cx="37584" cy="37584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60320"/>
            <a:ext cx="54445" cy="54445"/>
          </a:xfrm>
          <a:prstGeom prst="ellipse">
            <a:avLst/>
          </a:prstGeom>
          <a:solidFill>
            <a:srgbClr val="FFFFFF">
              <a:alpha val="7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2926080"/>
            <a:ext cx="58378" cy="58378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2377440"/>
            <a:ext cx="31899" cy="31899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5943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71,223 developers to 5 archetypes.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365760" y="14173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B2255"/>
          </a:solidFill>
          <a:ln w="12700">
            <a:solidFill>
              <a:srgbClr val="5B6ECD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148132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Overflow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 Survey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71,223 profiles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0" y="1920240"/>
            <a:ext cx="274320" cy="0"/>
          </a:xfrm>
          <a:prstGeom prst="line">
            <a:avLst/>
          </a:prstGeom>
          <a:noFill/>
          <a:ln w="19050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120" y="14173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B2255"/>
          </a:solidFill>
          <a:ln w="12700">
            <a:solidFill>
              <a:srgbClr val="7B8EE8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103120" y="148132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10312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· Tools · Roles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66160" y="1920240"/>
            <a:ext cx="274320" cy="0"/>
          </a:xfrm>
          <a:prstGeom prst="line">
            <a:avLst/>
          </a:prstGeom>
          <a:noFill/>
          <a:ln w="19050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0" y="14173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B2255"/>
          </a:solidFill>
          <a:ln w="12700">
            <a:solidFill>
              <a:srgbClr val="C9A84C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40480" y="148132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84048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03520" y="1920240"/>
            <a:ext cx="274320" cy="0"/>
          </a:xfrm>
          <a:prstGeom prst="line">
            <a:avLst/>
          </a:prstGeom>
          <a:noFill/>
          <a:ln w="19050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77840" y="14173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B2255"/>
          </a:solidFill>
          <a:ln w="12700">
            <a:solidFill>
              <a:srgbClr val="E8C76A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77840" y="148132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57784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040880" y="1920240"/>
            <a:ext cx="274320" cy="0"/>
          </a:xfrm>
          <a:prstGeom prst="line">
            <a:avLst/>
          </a:prstGeom>
          <a:noFill/>
          <a:ln w="19050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0" y="141732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1B2255"/>
          </a:solidFill>
          <a:ln w="12700">
            <a:solidFill>
              <a:srgbClr val="4ECDC4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15200" y="148132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Developer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Archetypes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31520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artifacts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65760" y="2743200"/>
            <a:ext cx="1572768" cy="1207008"/>
          </a:xfrm>
          <a:prstGeom prst="roundRect">
            <a:avLst>
              <a:gd name="adj" fmla="val 7576"/>
            </a:avLst>
          </a:prstGeom>
          <a:solidFill>
            <a:srgbClr val="1B2255"/>
          </a:solidFill>
          <a:ln w="6350">
            <a:solidFill>
              <a:srgbClr val="C9A84C">
                <a:alpha val="3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65760" y="28346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365760" y="316382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5760" y="3456432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sklearn · pandas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103120" y="2743200"/>
            <a:ext cx="1572768" cy="1207008"/>
          </a:xfrm>
          <a:prstGeom prst="roundRect">
            <a:avLst>
              <a:gd name="adj" fmla="val 7576"/>
            </a:avLst>
          </a:prstGeom>
          <a:solidFill>
            <a:srgbClr val="1B2255"/>
          </a:solidFill>
          <a:ln w="6350">
            <a:solidFill>
              <a:srgbClr val="C9A84C">
                <a:alpha val="3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103120" y="28346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2103120" y="316382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103120" y="3456432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Node · TypeScript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840480" y="2743200"/>
            <a:ext cx="1572768" cy="1207008"/>
          </a:xfrm>
          <a:prstGeom prst="roundRect">
            <a:avLst>
              <a:gd name="adj" fmla="val 7576"/>
            </a:avLst>
          </a:prstGeom>
          <a:solidFill>
            <a:srgbClr val="1B2255"/>
          </a:solidFill>
          <a:ln w="6350">
            <a:solidFill>
              <a:srgbClr val="C9A84C">
                <a:alpha val="3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840480" y="28346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⬢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3840480" y="316382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840480" y="3456432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· Rust · low-level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577840" y="2743200"/>
            <a:ext cx="1572768" cy="1207008"/>
          </a:xfrm>
          <a:prstGeom prst="roundRect">
            <a:avLst>
              <a:gd name="adj" fmla="val 7576"/>
            </a:avLst>
          </a:prstGeom>
          <a:solidFill>
            <a:srgbClr val="1B2255"/>
          </a:solidFill>
          <a:ln w="6350">
            <a:solidFill>
              <a:srgbClr val="C9A84C">
                <a:alpha val="3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577840" y="28346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5577840" y="316382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.NET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577840" y="3456432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Azure · .NET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15200" y="2743200"/>
            <a:ext cx="1572768" cy="1207008"/>
          </a:xfrm>
          <a:prstGeom prst="roundRect">
            <a:avLst>
              <a:gd name="adj" fmla="val 7576"/>
            </a:avLst>
          </a:prstGeom>
          <a:solidFill>
            <a:srgbClr val="1B2255"/>
          </a:solidFill>
          <a:ln w="6350">
            <a:solidFill>
              <a:srgbClr val="C9A84C">
                <a:alpha val="3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315200" y="28346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7315200" y="316382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315200" y="3456432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containers · DevOps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B2255"/>
          </a:solidFill>
          <a:ln w="635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ran offline in Google Colab. Artifacts (PCA transform, k-Means centroids, scaler) are versioned and loaded at backend startup — the live server never retrains.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58947" cy="58947"/>
          </a:xfrm>
          <a:prstGeom prst="ellipse">
            <a:avLst/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731520"/>
            <a:ext cx="29474" cy="29474"/>
          </a:xfrm>
          <a:prstGeom prst="ellipse">
            <a:avLst/>
          </a:prstGeom>
          <a:solidFill>
            <a:srgbClr val="FFFFFF">
              <a:alpha val="3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74320"/>
            <a:ext cx="41753" cy="41753"/>
          </a:xfrm>
          <a:prstGeom prst="ellipse">
            <a:avLst/>
          </a:prstGeom>
          <a:solidFill>
            <a:srgbClr val="FFFFFF">
              <a:alpha val="4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914400"/>
            <a:ext cx="41624" cy="41624"/>
          </a:xfrm>
          <a:prstGeom prst="ellipse">
            <a:avLst/>
          </a:prstGeom>
          <a:solidFill>
            <a:srgbClr val="FFFFFF">
              <a:alpha val="4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457200"/>
            <a:ext cx="44582" cy="4458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822960"/>
            <a:ext cx="51081" cy="51081"/>
          </a:xfrm>
          <a:prstGeom prst="ellipse">
            <a:avLst/>
          </a:prstGeom>
          <a:solidFill>
            <a:srgbClr val="FFFFFF">
              <a:alpha val="4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82880"/>
            <a:ext cx="26439" cy="26439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640080"/>
            <a:ext cx="52757" cy="52757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365760"/>
            <a:ext cx="31169" cy="31169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280160"/>
            <a:ext cx="33816" cy="33816"/>
          </a:xfrm>
          <a:prstGeom prst="ellipse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1737360"/>
            <a:ext cx="40598" cy="40598"/>
          </a:xfrm>
          <a:prstGeom prst="ellipse">
            <a:avLst/>
          </a:prstGeom>
          <a:solidFill>
            <a:srgbClr val="FFFFFF">
              <a:alpha val="5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371600"/>
            <a:ext cx="44895" cy="44895"/>
          </a:xfrm>
          <a:prstGeom prst="ellipse">
            <a:avLst/>
          </a:prstGeom>
          <a:solidFill>
            <a:srgbClr val="FFFFFF">
              <a:alpha val="4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645920"/>
            <a:ext cx="41732" cy="41732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188720"/>
            <a:ext cx="54381" cy="54381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554480"/>
            <a:ext cx="35020" cy="35020"/>
          </a:xfrm>
          <a:prstGeom prst="ellipse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deployment on AWS free tier.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365760" y="1353312"/>
            <a:ext cx="2514600" cy="2956271"/>
          </a:xfrm>
          <a:prstGeom prst="roundRect">
            <a:avLst>
              <a:gd name="adj" fmla="val 5091"/>
            </a:avLst>
          </a:prstGeom>
          <a:solidFill>
            <a:srgbClr val="1B2255"/>
          </a:solidFill>
          <a:ln w="15240">
            <a:solidFill>
              <a:srgbClr val="5B6ECD">
                <a:alpha val="6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536192"/>
            <a:ext cx="594360" cy="5943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21945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542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Static Hosting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30352" y="2880360"/>
            <a:ext cx="22128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HTML/CSS/JS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Constellation theme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stored client-side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backend over HTTPS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880360" y="3063240"/>
            <a:ext cx="320040" cy="0"/>
          </a:xfrm>
          <a:prstGeom prst="line">
            <a:avLst/>
          </a:prstGeom>
          <a:noFill/>
          <a:ln w="19050">
            <a:solidFill>
              <a:srgbClr val="C9A84C">
                <a:alpha val="65000"/>
              </a:srgbClr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2871216" y="28346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3200400" y="1353312"/>
            <a:ext cx="2514600" cy="2967228"/>
          </a:xfrm>
          <a:prstGeom prst="roundRect">
            <a:avLst>
              <a:gd name="adj" fmla="val 5091"/>
            </a:avLst>
          </a:prstGeom>
          <a:solidFill>
            <a:srgbClr val="1B2255"/>
          </a:solidFill>
          <a:ln w="15240">
            <a:solidFill>
              <a:srgbClr val="C9A84C">
                <a:alpha val="6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536192"/>
            <a:ext cx="594360" cy="5943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291840" y="21945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3291840" y="2542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t2.micro + nginx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3364992" y="2880360"/>
            <a:ext cx="22128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uvicorn (1 worker)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Let's Encrypt TLS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5-factor matching engine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artifacts loaded at startup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5715000" y="3063240"/>
            <a:ext cx="320040" cy="0"/>
          </a:xfrm>
          <a:prstGeom prst="line">
            <a:avLst/>
          </a:prstGeom>
          <a:noFill/>
          <a:ln w="19050">
            <a:solidFill>
              <a:srgbClr val="C9A84C">
                <a:alpha val="65000"/>
              </a:srgbClr>
            </a:solidFill>
            <a:prstDash val="dash"/>
          </a:ln>
        </p:spPr>
      </p:sp>
      <p:sp>
        <p:nvSpPr>
          <p:cNvPr id="32" name="Text 28"/>
          <p:cNvSpPr/>
          <p:nvPr/>
        </p:nvSpPr>
        <p:spPr>
          <a:xfrm>
            <a:off x="5705856" y="28346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6035040" y="1353312"/>
            <a:ext cx="2514600" cy="2956270"/>
          </a:xfrm>
          <a:prstGeom prst="roundRect">
            <a:avLst>
              <a:gd name="adj" fmla="val 5091"/>
            </a:avLst>
          </a:prstGeom>
          <a:solidFill>
            <a:srgbClr val="1B2255"/>
          </a:solidFill>
          <a:ln w="15240">
            <a:solidFill>
              <a:srgbClr val="4ECDC4">
                <a:alpha val="65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36192"/>
            <a:ext cx="594360" cy="59436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126480" y="21945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6126480" y="25420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6199632" y="2880360"/>
            <a:ext cx="22128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Profiles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 reference 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group: EC2 only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365760" y="4471417"/>
            <a:ext cx="4754880" cy="502918"/>
          </a:xfrm>
          <a:prstGeom prst="roundRect">
            <a:avLst>
              <a:gd name="adj" fmla="val 14545"/>
            </a:avLst>
          </a:prstGeom>
          <a:solidFill>
            <a:srgbClr val="1B2255"/>
          </a:solidFill>
          <a:ln w="6350">
            <a:solidFill>
              <a:srgbClr val="5B6ECD">
                <a:alpha val="45000"/>
              </a:srgbClr>
            </a:solidFill>
            <a:prstDash val="solid"/>
          </a:ln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553712"/>
            <a:ext cx="320040" cy="32004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896112" y="45354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· bcrypt password hashing · env-var secrets · CORS origin allowlist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40402" cy="40402"/>
          </a:xfrm>
          <a:prstGeom prst="ellipse">
            <a:avLst/>
          </a:prstGeom>
          <a:solidFill>
            <a:srgbClr val="FFFFFF">
              <a:alpha val="4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731520"/>
            <a:ext cx="39225" cy="39225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74320"/>
            <a:ext cx="50951" cy="50951"/>
          </a:xfrm>
          <a:prstGeom prst="ellipse">
            <a:avLst/>
          </a:prstGeom>
          <a:solidFill>
            <a:srgbClr val="FFFFFF">
              <a:alpha val="4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914400"/>
            <a:ext cx="31398" cy="31398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457200"/>
            <a:ext cx="41700" cy="41700"/>
          </a:xfrm>
          <a:prstGeom prst="ellipse">
            <a:avLst/>
          </a:prstGeom>
          <a:solidFill>
            <a:srgbClr val="FFFFFF">
              <a:alpha val="4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822960"/>
            <a:ext cx="40969" cy="40969"/>
          </a:xfrm>
          <a:prstGeom prst="ellipse">
            <a:avLst/>
          </a:prstGeom>
          <a:solidFill>
            <a:srgbClr val="FFFFFF">
              <a:alpha val="3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82880"/>
            <a:ext cx="51733" cy="51733"/>
          </a:xfrm>
          <a:prstGeom prst="ellipse">
            <a:avLst/>
          </a:prstGeom>
          <a:solidFill>
            <a:srgbClr val="FFFFFF">
              <a:alpha val="5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640080"/>
            <a:ext cx="51729" cy="51729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365760"/>
            <a:ext cx="38252" cy="382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280160"/>
            <a:ext cx="43613" cy="43613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1737360"/>
            <a:ext cx="57989" cy="57989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371600"/>
            <a:ext cx="29963" cy="29963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645920"/>
            <a:ext cx="54622" cy="54622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188720"/>
            <a:ext cx="38128" cy="38128"/>
          </a:xfrm>
          <a:prstGeom prst="ellipse">
            <a:avLst/>
          </a:prstGeom>
          <a:solidFill>
            <a:srgbClr val="FFFFFF">
              <a:alpha val="6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554480"/>
            <a:ext cx="47605" cy="47605"/>
          </a:xfrm>
          <a:prstGeom prst="ellipse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ALIGNMENT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component maps to a module.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94360" y="12618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20240" y="12618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0" y="126187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1572768"/>
            <a:ext cx="7863840" cy="493776"/>
          </a:xfrm>
          <a:prstGeom prst="roundRect">
            <a:avLst>
              <a:gd name="adj" fmla="val 14815"/>
            </a:avLst>
          </a:prstGeom>
          <a:solidFill>
            <a:srgbClr val="1B2255"/>
          </a:solidFill>
          <a:ln w="6350">
            <a:solidFill>
              <a:srgbClr val="5B6ECD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682496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B6ECD">
              <a:alpha val="70000"/>
            </a:srgbClr>
          </a:solidFill>
          <a:ln w="12700">
            <a:solidFill>
              <a:srgbClr val="5B6EC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16824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Data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2024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· scikit-learn · PCA · k-Means · pandas · NumPy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16916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Data Science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139696"/>
            <a:ext cx="7863840" cy="493776"/>
          </a:xfrm>
          <a:prstGeom prst="roundRect">
            <a:avLst>
              <a:gd name="adj" fmla="val 14815"/>
            </a:avLst>
          </a:prstGeom>
          <a:solidFill>
            <a:srgbClr val="1B2255"/>
          </a:solidFill>
          <a:ln w="6350">
            <a:solidFill>
              <a:srgbClr val="5B6ECD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2249424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B6ECD">
              <a:alpha val="70000"/>
            </a:srgbClr>
          </a:solidFill>
          <a:ln w="12700">
            <a:solidFill>
              <a:srgbClr val="5B6E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2494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920240" y="2258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FastAPI · SQLAlchemy · passlib / bcrypt · PyJWT · uvicorn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225856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706624"/>
            <a:ext cx="7863840" cy="493776"/>
          </a:xfrm>
          <a:prstGeom prst="roundRect">
            <a:avLst>
              <a:gd name="adj" fmla="val 14815"/>
            </a:avLst>
          </a:prstGeom>
          <a:solidFill>
            <a:srgbClr val="1B2255"/>
          </a:solidFill>
          <a:ln w="6350">
            <a:solidFill>
              <a:srgbClr val="5B6ECD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2816352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B6ECD">
              <a:alpha val="70000"/>
            </a:srgbClr>
          </a:solidFill>
          <a:ln w="12700">
            <a:solidFill>
              <a:srgbClr val="5B6EC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28163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20240" y="28254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HTML/CSS/JS · Space Grotesk · Inter · JetBrains Mono · Fetch API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282549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273552"/>
            <a:ext cx="7863840" cy="493776"/>
          </a:xfrm>
          <a:prstGeom prst="roundRect">
            <a:avLst>
              <a:gd name="adj" fmla="val 14815"/>
            </a:avLst>
          </a:prstGeom>
          <a:solidFill>
            <a:srgbClr val="1B2255"/>
          </a:solidFill>
          <a:ln w="6350">
            <a:solidFill>
              <a:srgbClr val="5B6ECD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338328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B6ECD">
              <a:alpha val="70000"/>
            </a:srgbClr>
          </a:solidFill>
          <a:ln w="12700">
            <a:solidFill>
              <a:srgbClr val="5B6EC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383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920240" y="3392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(RDS)  ·  SQLite (local dev)  ·  Alembic migrations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3392424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3840480"/>
            <a:ext cx="7863840" cy="493776"/>
          </a:xfrm>
          <a:prstGeom prst="roundRect">
            <a:avLst>
              <a:gd name="adj" fmla="val 14815"/>
            </a:avLst>
          </a:prstGeom>
          <a:solidFill>
            <a:srgbClr val="1B2255"/>
          </a:solidFill>
          <a:ln w="6350">
            <a:solidFill>
              <a:srgbClr val="5B6ECD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" y="3950208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B6ECD">
              <a:alpha val="70000"/>
            </a:srgbClr>
          </a:solidFill>
          <a:ln w="12700">
            <a:solidFill>
              <a:srgbClr val="5B6EC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39502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Infra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920240" y="39593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· EC2 t2.micro · RDS · nginx · Let's Encrypt TLS · IAM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0" y="395935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407408"/>
            <a:ext cx="7863840" cy="493776"/>
          </a:xfrm>
          <a:prstGeom prst="roundRect">
            <a:avLst>
              <a:gd name="adj" fmla="val 14815"/>
            </a:avLst>
          </a:prstGeom>
          <a:solidFill>
            <a:srgbClr val="1B2255"/>
          </a:solidFill>
          <a:ln w="6350">
            <a:solidFill>
              <a:srgbClr val="5B6ECD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4517136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5B6ECD">
              <a:alpha val="70000"/>
            </a:srgbClr>
          </a:solidFill>
          <a:ln w="12700">
            <a:solidFill>
              <a:srgbClr val="5B6EC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45171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920240" y="4526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httpx · 22 unit &amp; integration tests passing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943600" y="45262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25026" cy="25026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731520"/>
            <a:ext cx="52009" cy="52009"/>
          </a:xfrm>
          <a:prstGeom prst="ellipse">
            <a:avLst/>
          </a:prstGeom>
          <a:solidFill>
            <a:srgbClr val="FFFFFF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74320"/>
            <a:ext cx="54515" cy="54515"/>
          </a:xfrm>
          <a:prstGeom prst="ellipse">
            <a:avLst/>
          </a:prstGeom>
          <a:solidFill>
            <a:srgbClr val="FFFFFF">
              <a:alpha val="5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914400"/>
            <a:ext cx="45479" cy="45479"/>
          </a:xfrm>
          <a:prstGeom prst="ellipse">
            <a:avLst/>
          </a:prstGeom>
          <a:solidFill>
            <a:srgbClr val="FFFFFF">
              <a:alpha val="7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457200"/>
            <a:ext cx="40425" cy="40425"/>
          </a:xfrm>
          <a:prstGeom prst="ellipse">
            <a:avLst/>
          </a:prstGeom>
          <a:solidFill>
            <a:srgbClr val="FFFFFF">
              <a:alpha val="2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822960"/>
            <a:ext cx="39249" cy="39249"/>
          </a:xfrm>
          <a:prstGeom prst="ellipse">
            <a:avLst/>
          </a:prstGeom>
          <a:solidFill>
            <a:srgbClr val="FFFFFF">
              <a:alpha val="6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82880"/>
            <a:ext cx="29875" cy="29875"/>
          </a:xfrm>
          <a:prstGeom prst="ellipse">
            <a:avLst/>
          </a:prstGeom>
          <a:solidFill>
            <a:srgbClr val="FFFFFF">
              <a:alpha val="3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640080"/>
            <a:ext cx="27718" cy="27718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365760"/>
            <a:ext cx="34162" cy="34162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280160"/>
            <a:ext cx="57132" cy="57132"/>
          </a:xfrm>
          <a:prstGeom prst="ellipse">
            <a:avLst/>
          </a:prstGeom>
          <a:solidFill>
            <a:srgbClr val="FFFFFF">
              <a:alpha val="4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1737360"/>
            <a:ext cx="38235" cy="38235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371600"/>
            <a:ext cx="51428" cy="51428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645920"/>
            <a:ext cx="29642" cy="29642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188720"/>
            <a:ext cx="34727" cy="34727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554480"/>
            <a:ext cx="53370" cy="53370"/>
          </a:xfrm>
          <a:prstGeom prst="ellipse">
            <a:avLst/>
          </a:prstGeom>
          <a:solidFill>
            <a:srgbClr val="FFFFFF">
              <a:alpha val="4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1097280"/>
            <a:ext cx="36631" cy="36631"/>
          </a:xfrm>
          <a:prstGeom prst="ellipse">
            <a:avLst/>
          </a:prstGeom>
          <a:solidFill>
            <a:srgbClr val="FFFFFF">
              <a:alpha val="5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737360"/>
            <a:ext cx="36739" cy="36739"/>
          </a:xfrm>
          <a:prstGeom prst="ellipse">
            <a:avLst/>
          </a:prstGeom>
          <a:solidFill>
            <a:srgbClr val="FFFFFF">
              <a:alpha val="2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60320"/>
            <a:ext cx="42944" cy="42944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2926080"/>
            <a:ext cx="24681" cy="24681"/>
          </a:xfrm>
          <a:prstGeom prst="ellipse">
            <a:avLst/>
          </a:prstGeom>
          <a:solidFill>
            <a:srgbClr val="FFFFFF">
              <a:alpha val="5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2377440"/>
            <a:ext cx="32442" cy="3244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3200400"/>
            <a:ext cx="23984" cy="23984"/>
          </a:xfrm>
          <a:prstGeom prst="ellipse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651760"/>
            <a:ext cx="53858" cy="53858"/>
          </a:xfrm>
          <a:prstGeom prst="ellipse">
            <a:avLst/>
          </a:prstGeom>
          <a:solidFill>
            <a:srgbClr val="FFFFFF">
              <a:alpha val="3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59436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shipped.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57200" y="13258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B2255"/>
          </a:solidFill>
          <a:ln w="9525">
            <a:solidFill>
              <a:srgbClr val="5B6ECD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14356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71,223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57200" y="1947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in training data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78608" y="13258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B2255"/>
          </a:solidFill>
          <a:ln w="9525">
            <a:solidFill>
              <a:srgbClr val="5B6ECD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78608" y="14356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2578608" y="1947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archetypes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0016" y="13258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B2255"/>
          </a:solidFill>
          <a:ln w="9525">
            <a:solidFill>
              <a:srgbClr val="5B6ECD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0016" y="14356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700016" y="1947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21424" y="13258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1B2255"/>
          </a:solidFill>
          <a:ln w="9525">
            <a:solidFill>
              <a:srgbClr val="5B6ECD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21424" y="14356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821424" y="1947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factors</a:t>
            </a:r>
            <a:endParaRPr lang="en-US" sz="95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51760"/>
            <a:ext cx="256032" cy="256032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804672" y="26517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full-stack app: register, profile, match, display — all working</a:t>
            </a:r>
            <a:endParaRPr lang="en-US" sz="1100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35808"/>
            <a:ext cx="256032" cy="256032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804672" y="30358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pipeline: 71,223-profile clustering → 5 archetypes, versioned and frozen</a:t>
            </a:r>
            <a:endParaRPr lang="en-US" sz="1100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19856"/>
            <a:ext cx="256032" cy="25603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804672" y="341985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with JWT auth, bcrypt hashing, and 8 modular files</a:t>
            </a:r>
            <a:endParaRPr lang="en-US" sz="1100" dirty="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03904"/>
            <a:ext cx="256032" cy="256032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804672" y="380390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matching engine with 5 weighted factors returning ranked results live</a:t>
            </a:r>
            <a:endParaRPr lang="en-US" sz="1100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87952"/>
            <a:ext cx="256032" cy="256032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804672" y="418795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deployment: S3 frontend · EC2 backend · RDS PostgreSQL</a:t>
            </a:r>
            <a:endParaRPr lang="en-US" sz="1100" dirty="0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256032" cy="256032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04672" y="45720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unit and integration tests passing across auth, profiles, and matching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58780" cy="58780"/>
          </a:xfrm>
          <a:prstGeom prst="ellipse">
            <a:avLst/>
          </a:prstGeom>
          <a:solidFill>
            <a:srgbClr val="FFFFFF">
              <a:alpha val="7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731520"/>
            <a:ext cx="36855" cy="36855"/>
          </a:xfrm>
          <a:prstGeom prst="ellipse">
            <a:avLst/>
          </a:prstGeom>
          <a:solidFill>
            <a:srgbClr val="FFFFFF">
              <a:alpha val="7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74320"/>
            <a:ext cx="28318" cy="28318"/>
          </a:xfrm>
          <a:prstGeom prst="ellipse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914400"/>
            <a:ext cx="23267" cy="23267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457200"/>
            <a:ext cx="45713" cy="45713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822960"/>
            <a:ext cx="37886" cy="37886"/>
          </a:xfrm>
          <a:prstGeom prst="ellipse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82880"/>
            <a:ext cx="23446" cy="23446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640080"/>
            <a:ext cx="39301" cy="39301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365760"/>
            <a:ext cx="55707" cy="55707"/>
          </a:xfrm>
          <a:prstGeom prst="ellipse">
            <a:avLst/>
          </a:prstGeom>
          <a:solidFill>
            <a:srgbClr val="FFFFFF">
              <a:alpha val="7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280160"/>
            <a:ext cx="58180" cy="58180"/>
          </a:xfrm>
          <a:prstGeom prst="ellipse">
            <a:avLst/>
          </a:prstGeom>
          <a:solidFill>
            <a:srgbClr val="FFFFFF">
              <a:alpha val="2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1737360"/>
            <a:ext cx="34915" cy="34915"/>
          </a:xfrm>
          <a:prstGeom prst="ellipse">
            <a:avLst/>
          </a:prstGeom>
          <a:solidFill>
            <a:srgbClr val="FFFFFF">
              <a:alpha val="6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371600"/>
            <a:ext cx="54443" cy="54443"/>
          </a:xfrm>
          <a:prstGeom prst="ellipse">
            <a:avLst/>
          </a:prstGeom>
          <a:solidFill>
            <a:srgbClr val="FFFFFF">
              <a:alpha val="5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645920"/>
            <a:ext cx="54792" cy="54792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188720"/>
            <a:ext cx="38236" cy="38236"/>
          </a:xfrm>
          <a:prstGeom prst="ellipse">
            <a:avLst/>
          </a:prstGeom>
          <a:solidFill>
            <a:srgbClr val="FFFFFF">
              <a:alpha val="5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554480"/>
            <a:ext cx="49100" cy="49100"/>
          </a:xfrm>
          <a:prstGeom prst="ellipse">
            <a:avLst/>
          </a:prstGeom>
          <a:solidFill>
            <a:srgbClr val="FFFFFF">
              <a:alpha val="6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1097280"/>
            <a:ext cx="31322" cy="31322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737360"/>
            <a:ext cx="29996" cy="29996"/>
          </a:xfrm>
          <a:prstGeom prst="ellipse">
            <a:avLst/>
          </a:prstGeom>
          <a:solidFill>
            <a:srgbClr val="FFFFFF">
              <a:alpha val="7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60320"/>
            <a:ext cx="26940" cy="26940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2926080"/>
            <a:ext cx="32831" cy="32831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2377440"/>
            <a:ext cx="41839" cy="41839"/>
          </a:xfrm>
          <a:prstGeom prst="ellipse">
            <a:avLst/>
          </a:prstGeom>
          <a:solidFill>
            <a:srgbClr val="FFFFFF">
              <a:alpha val="4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3200400"/>
            <a:ext cx="34352" cy="34352"/>
          </a:xfrm>
          <a:prstGeom prst="ellipse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651760"/>
            <a:ext cx="25051" cy="25051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017520"/>
            <a:ext cx="31091" cy="31091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2468880"/>
            <a:ext cx="28710" cy="2871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2743200"/>
            <a:ext cx="56108" cy="5610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749040"/>
            <a:ext cx="53381" cy="53381"/>
          </a:xfrm>
          <a:prstGeom prst="ellipse">
            <a:avLst/>
          </a:prstGeom>
          <a:solidFill>
            <a:srgbClr val="FFFFFF">
              <a:alpha val="7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37360" y="4206240"/>
            <a:ext cx="34001" cy="34001"/>
          </a:xfrm>
          <a:prstGeom prst="ellipse">
            <a:avLst/>
          </a:prstGeom>
          <a:solidFill>
            <a:srgbClr val="FFFFFF">
              <a:alpha val="4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0" y="3840480"/>
            <a:ext cx="26787" cy="26787"/>
          </a:xfrm>
          <a:prstGeom prst="ellipse">
            <a:avLst/>
          </a:prstGeom>
          <a:solidFill>
            <a:srgbClr val="FFFFFF">
              <a:alpha val="6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0" y="4389120"/>
            <a:ext cx="48009" cy="48009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3931920"/>
            <a:ext cx="33784" cy="33784"/>
          </a:xfrm>
          <a:prstGeom prst="ellipse">
            <a:avLst/>
          </a:prstGeom>
          <a:solidFill>
            <a:srgbClr val="FFFFFF">
              <a:alpha val="4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0" y="4297680"/>
            <a:ext cx="36726" cy="36726"/>
          </a:xfrm>
          <a:prstGeom prst="ellipse">
            <a:avLst/>
          </a:prstGeom>
          <a:solidFill>
            <a:srgbClr val="FFFFFF">
              <a:alpha val="7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4023360"/>
            <a:ext cx="57602" cy="5760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95360" y="4572000"/>
            <a:ext cx="58292" cy="58292"/>
          </a:xfrm>
          <a:prstGeom prst="ellipse">
            <a:avLst/>
          </a:prstGeom>
          <a:solidFill>
            <a:srgbClr val="FFFFFF">
              <a:alpha val="4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0240" y="4754880"/>
            <a:ext cx="50157" cy="50157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1920" y="4663440"/>
            <a:ext cx="27769" cy="27769"/>
          </a:xfrm>
          <a:prstGeom prst="ellipse">
            <a:avLst/>
          </a:prstGeom>
          <a:solidFill>
            <a:srgbClr val="FFFFFF">
              <a:alpha val="7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4846320"/>
            <a:ext cx="27360" cy="27360"/>
          </a:xfrm>
          <a:prstGeom prst="ellipse">
            <a:avLst/>
          </a:prstGeom>
          <a:solidFill>
            <a:srgbClr val="FFFFFF">
              <a:alpha val="7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06640" y="4663440"/>
            <a:ext cx="45583" cy="45583"/>
          </a:xfrm>
          <a:prstGeom prst="ellipse">
            <a:avLst/>
          </a:prstGeom>
          <a:solidFill>
            <a:srgbClr val="FFFFFF">
              <a:alpha val="6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" y="4937760"/>
            <a:ext cx="59223" cy="59223"/>
          </a:xfrm>
          <a:prstGeom prst="ellipse">
            <a:avLst/>
          </a:prstGeom>
          <a:solidFill>
            <a:srgbClr val="FFFFFF">
              <a:alpha val="3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26080" y="914400"/>
            <a:ext cx="1645920" cy="1097280"/>
          </a:xfrm>
          <a:prstGeom prst="line">
            <a:avLst/>
          </a:prstGeom>
          <a:noFill/>
          <a:ln w="9525">
            <a:solidFill>
              <a:srgbClr val="5B6ECD">
                <a:alpha val="45000"/>
              </a:srgbClr>
            </a:solidFill>
            <a:prstDash val="sysDot"/>
          </a:ln>
        </p:spPr>
      </p:sp>
      <p:sp>
        <p:nvSpPr>
          <p:cNvPr id="41" name="Shape 39"/>
          <p:cNvSpPr/>
          <p:nvPr/>
        </p:nvSpPr>
        <p:spPr>
          <a:xfrm>
            <a:off x="4572000" y="2011680"/>
            <a:ext cx="1645920" cy="0"/>
          </a:xfrm>
          <a:prstGeom prst="line">
            <a:avLst/>
          </a:prstGeom>
          <a:noFill/>
          <a:ln w="9525">
            <a:solidFill>
              <a:srgbClr val="5B6ECD">
                <a:alpha val="45000"/>
              </a:srgbClr>
            </a:solidFill>
            <a:prstDash val="sysDot"/>
          </a:ln>
        </p:spPr>
      </p:sp>
      <p:sp>
        <p:nvSpPr>
          <p:cNvPr id="42" name="Shape 40"/>
          <p:cNvSpPr/>
          <p:nvPr/>
        </p:nvSpPr>
        <p:spPr>
          <a:xfrm>
            <a:off x="6217920" y="1280160"/>
            <a:ext cx="640080" cy="1463040"/>
          </a:xfrm>
          <a:prstGeom prst="line">
            <a:avLst/>
          </a:prstGeom>
          <a:noFill/>
          <a:ln w="9525">
            <a:solidFill>
              <a:srgbClr val="5B6ECD">
                <a:alpha val="45000"/>
              </a:srgbClr>
            </a:solidFill>
            <a:prstDash val="sysDot"/>
          </a:ln>
        </p:spPr>
      </p:sp>
      <p:sp>
        <p:nvSpPr>
          <p:cNvPr id="43" name="Shape 41"/>
          <p:cNvSpPr/>
          <p:nvPr/>
        </p:nvSpPr>
        <p:spPr>
          <a:xfrm>
            <a:off x="4572000" y="2011680"/>
            <a:ext cx="0" cy="1463040"/>
          </a:xfrm>
          <a:prstGeom prst="line">
            <a:avLst/>
          </a:prstGeom>
          <a:noFill/>
          <a:ln w="9525">
            <a:solidFill>
              <a:srgbClr val="5B6ECD">
                <a:alpha val="45000"/>
              </a:srgbClr>
            </a:solidFill>
            <a:prstDash val="sysDot"/>
          </a:ln>
        </p:spPr>
      </p:sp>
      <p:sp>
        <p:nvSpPr>
          <p:cNvPr id="44" name="Shape 42"/>
          <p:cNvSpPr/>
          <p:nvPr/>
        </p:nvSpPr>
        <p:spPr>
          <a:xfrm>
            <a:off x="4114800" y="3474720"/>
            <a:ext cx="1554480" cy="365760"/>
          </a:xfrm>
          <a:prstGeom prst="line">
            <a:avLst/>
          </a:prstGeom>
          <a:noFill/>
          <a:ln w="9525">
            <a:solidFill>
              <a:srgbClr val="5B6ECD">
                <a:alpha val="45000"/>
              </a:srgbClr>
            </a:solidFill>
            <a:prstDash val="sysDot"/>
          </a:ln>
        </p:spPr>
      </p:sp>
      <p:sp>
        <p:nvSpPr>
          <p:cNvPr id="45" name="Shape 43"/>
          <p:cNvSpPr/>
          <p:nvPr/>
        </p:nvSpPr>
        <p:spPr>
          <a:xfrm>
            <a:off x="5669280" y="3840480"/>
            <a:ext cx="1188720" cy="0"/>
          </a:xfrm>
          <a:prstGeom prst="line">
            <a:avLst/>
          </a:prstGeom>
          <a:noFill/>
          <a:ln w="9525">
            <a:solidFill>
              <a:srgbClr val="5B6ECD">
                <a:alpha val="45000"/>
              </a:srgbClr>
            </a:solidFill>
            <a:prstDash val="sysDot"/>
          </a:ln>
        </p:spPr>
      </p:sp>
      <p:sp>
        <p:nvSpPr>
          <p:cNvPr id="46" name="Shape 44"/>
          <p:cNvSpPr/>
          <p:nvPr/>
        </p:nvSpPr>
        <p:spPr>
          <a:xfrm>
            <a:off x="2862072" y="850392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16352" y="804672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0" y="6583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B"/>
                </a:solidFill>
              </a:rPr>
              <a:t>Kira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507992" y="1947672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62272" y="1901952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23360" y="17556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B"/>
                </a:solidFill>
              </a:rPr>
              <a:t>YOU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153912" y="1216152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08192" y="1170432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0" y="10241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B"/>
                </a:solidFill>
              </a:rPr>
              <a:t>Saran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793992" y="2679192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48272" y="2633472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0" y="28803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B"/>
                </a:solidFill>
              </a:rPr>
              <a:t>Dev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050792" y="3410712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005072" y="3364992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66160" y="36118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B"/>
                </a:solidFill>
              </a:rPr>
              <a:t>Amara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605272" y="3776472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59552" y="3730752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0" y="39776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2BB"/>
                </a:solidFill>
              </a:rPr>
              <a:t>Theo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5720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57200" y="2240280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Zetwork</a:t>
            </a:r>
            <a:endParaRPr lang="en-US" sz="4400" dirty="0"/>
          </a:p>
        </p:txBody>
      </p:sp>
      <p:sp>
        <p:nvSpPr>
          <p:cNvPr id="66" name="Text 64"/>
          <p:cNvSpPr/>
          <p:nvPr/>
        </p:nvSpPr>
        <p:spPr>
          <a:xfrm>
            <a:off x="45720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8892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action</a:t>
            </a:r>
            <a:endParaRPr lang="en-US" sz="2200" dirty="0"/>
          </a:p>
        </p:txBody>
      </p:sp>
      <p:sp>
        <p:nvSpPr>
          <p:cNvPr id="67" name="Shape 65"/>
          <p:cNvSpPr/>
          <p:nvPr/>
        </p:nvSpPr>
        <p:spPr>
          <a:xfrm>
            <a:off x="457200" y="3703320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1B2255"/>
          </a:solidFill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4360" y="3794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Build profile → </a:t>
            </a:r>
            <a:r>
              <a:rPr lang="en-US" sz="10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constellation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594360" y="4160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URL  →  zetwork.example.com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28833" cy="28833"/>
          </a:xfrm>
          <a:prstGeom prst="ellipse">
            <a:avLst/>
          </a:prstGeom>
          <a:solidFill>
            <a:srgbClr val="FFFFFF">
              <a:alpha val="4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731520"/>
            <a:ext cx="51882" cy="51882"/>
          </a:xfrm>
          <a:prstGeom prst="ellipse">
            <a:avLst/>
          </a:prstGeom>
          <a:solidFill>
            <a:srgbClr val="FFFFFF">
              <a:alpha val="6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74320"/>
            <a:ext cx="48975" cy="48975"/>
          </a:xfrm>
          <a:prstGeom prst="ellipse">
            <a:avLst/>
          </a:prstGeom>
          <a:solidFill>
            <a:srgbClr val="FFFFFF">
              <a:alpha val="4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914400"/>
            <a:ext cx="56443" cy="56443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457200"/>
            <a:ext cx="27218" cy="27218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822960"/>
            <a:ext cx="47412" cy="47412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82880"/>
            <a:ext cx="35918" cy="35918"/>
          </a:xfrm>
          <a:prstGeom prst="ellipse">
            <a:avLst/>
          </a:prstGeom>
          <a:solidFill>
            <a:srgbClr val="FFFFFF">
              <a:alpha val="5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640080"/>
            <a:ext cx="24614" cy="24614"/>
          </a:xfrm>
          <a:prstGeom prst="ellipse">
            <a:avLst/>
          </a:prstGeom>
          <a:solidFill>
            <a:srgbClr val="FFFFFF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365760"/>
            <a:ext cx="52641" cy="52641"/>
          </a:xfrm>
          <a:prstGeom prst="ellipse">
            <a:avLst/>
          </a:prstGeom>
          <a:solidFill>
            <a:srgbClr val="FFFFFF">
              <a:alpha val="3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280160"/>
            <a:ext cx="33919" cy="33919"/>
          </a:xfrm>
          <a:prstGeom prst="ellipse">
            <a:avLst/>
          </a:prstGeom>
          <a:solidFill>
            <a:srgbClr val="FFFFFF">
              <a:alpha val="6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1737360"/>
            <a:ext cx="46544" cy="46544"/>
          </a:xfrm>
          <a:prstGeom prst="ellipse">
            <a:avLst/>
          </a:prstGeom>
          <a:solidFill>
            <a:srgbClr val="FFFFFF">
              <a:alpha val="5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371600"/>
            <a:ext cx="36910" cy="36910"/>
          </a:xfrm>
          <a:prstGeom prst="ellipse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645920"/>
            <a:ext cx="29599" cy="29599"/>
          </a:xfrm>
          <a:prstGeom prst="ellipse">
            <a:avLst/>
          </a:prstGeom>
          <a:solidFill>
            <a:srgbClr val="FFFFFF">
              <a:alpha val="6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188720"/>
            <a:ext cx="29615" cy="29615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554480"/>
            <a:ext cx="46927" cy="46927"/>
          </a:xfrm>
          <a:prstGeom prst="ellipse">
            <a:avLst/>
          </a:prstGeom>
          <a:solidFill>
            <a:srgbClr val="FFFFFF">
              <a:alpha val="6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1097280"/>
            <a:ext cx="35208" cy="35208"/>
          </a:xfrm>
          <a:prstGeom prst="ellipse">
            <a:avLst/>
          </a:prstGeom>
          <a:solidFill>
            <a:srgbClr val="FFFFFF">
              <a:alpha val="7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737360"/>
            <a:ext cx="51628" cy="51628"/>
          </a:xfrm>
          <a:prstGeom prst="ellipse">
            <a:avLst/>
          </a:prstGeom>
          <a:solidFill>
            <a:srgbClr val="FFFFFF">
              <a:alpha val="4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60320"/>
            <a:ext cx="55222" cy="5522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6E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59436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next.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411480" y="132588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1B2255"/>
          </a:solidFill>
          <a:ln w="12700">
            <a:solidFill>
              <a:srgbClr val="7B8EE8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" y="1463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8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 ·  Better Semantics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1208" y="1874520"/>
            <a:ext cx="2377440" cy="0"/>
          </a:xfrm>
          <a:prstGeom prst="line">
            <a:avLst/>
          </a:prstGeom>
          <a:noFill/>
          <a:ln w="6350">
            <a:solidFill>
              <a:srgbClr val="7B8EE8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196596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TF-IDF with sentence-transformers (all-MiniLM-L6-v2)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embeddings in ChromaDB for sub-millisecond ANN search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EC2 to t3.small for the extra RAM headroom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64408" y="132588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1B2255"/>
          </a:solidFill>
          <a:ln w="12700">
            <a:solidFill>
              <a:srgbClr val="C9A84C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74136" y="1463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  ·  LLM Layer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74136" y="1874520"/>
            <a:ext cx="2377440" cy="0"/>
          </a:xfrm>
          <a:prstGeom prst="line">
            <a:avLst/>
          </a:prstGeom>
          <a:noFill/>
          <a:ln w="6350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74136" y="196596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use stored profiles as retrieval context for an LLM match explanation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match summaries: 'You and Saran complement each other because…'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module: advanced AI Engineering / RAG pipelines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17336" y="132588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1B2255"/>
          </a:solidFill>
          <a:ln w="12700">
            <a:solidFill>
              <a:srgbClr val="4ECDC4">
                <a:alpha val="6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27064" y="1463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  ·  Platform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27064" y="1874520"/>
            <a:ext cx="2377440" cy="0"/>
          </a:xfrm>
          <a:prstGeom prst="line">
            <a:avLst/>
          </a:prstGeom>
          <a:noFill/>
          <a:ln w="6350">
            <a:solidFill>
              <a:srgbClr val="4ECDC4">
                <a:alpha val="3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7064" y="196596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 between matched developers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formation: groups of 3–5 with composite archetype 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OAuth, refresh tokens, email verification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52466" cy="52466"/>
          </a:xfrm>
          <a:prstGeom prst="ellipse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731520"/>
            <a:ext cx="42496" cy="42496"/>
          </a:xfrm>
          <a:prstGeom prst="ellipse">
            <a:avLst/>
          </a:prstGeom>
          <a:solidFill>
            <a:srgbClr val="FFFFFF">
              <a:alpha val="4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74320"/>
            <a:ext cx="38956" cy="38956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914400"/>
            <a:ext cx="26546" cy="26546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457200"/>
            <a:ext cx="47884" cy="47884"/>
          </a:xfrm>
          <a:prstGeom prst="ellipse">
            <a:avLst/>
          </a:prstGeom>
          <a:solidFill>
            <a:srgbClr val="FFFFFF">
              <a:alpha val="3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822960"/>
            <a:ext cx="50519" cy="50519"/>
          </a:xfrm>
          <a:prstGeom prst="ellipse">
            <a:avLst/>
          </a:prstGeom>
          <a:solidFill>
            <a:srgbClr val="FFFFFF">
              <a:alpha val="6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82880"/>
            <a:ext cx="55437" cy="55437"/>
          </a:xfrm>
          <a:prstGeom prst="ellipse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640080"/>
            <a:ext cx="41102" cy="41102"/>
          </a:xfrm>
          <a:prstGeom prst="ellipse">
            <a:avLst/>
          </a:prstGeom>
          <a:solidFill>
            <a:srgbClr val="FFFFFF">
              <a:alpha val="3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365760"/>
            <a:ext cx="34162" cy="34162"/>
          </a:xfrm>
          <a:prstGeom prst="ellipse">
            <a:avLst/>
          </a:prstGeom>
          <a:solidFill>
            <a:srgbClr val="FFFFFF">
              <a:alpha val="4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280160"/>
            <a:ext cx="58309" cy="58309"/>
          </a:xfrm>
          <a:prstGeom prst="ellipse">
            <a:avLst/>
          </a:prstGeom>
          <a:solidFill>
            <a:srgbClr val="FFFFFF">
              <a:alpha val="4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1737360"/>
            <a:ext cx="44908" cy="44908"/>
          </a:xfrm>
          <a:prstGeom prst="ellipse">
            <a:avLst/>
          </a:prstGeom>
          <a:solidFill>
            <a:srgbClr val="FFFFFF">
              <a:alpha val="3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371600"/>
            <a:ext cx="44725" cy="44725"/>
          </a:xfrm>
          <a:prstGeom prst="ellipse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645920"/>
            <a:ext cx="24297" cy="24297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188720"/>
            <a:ext cx="43641" cy="43641"/>
          </a:xfrm>
          <a:prstGeom prst="ellipse">
            <a:avLst/>
          </a:prstGeom>
          <a:solidFill>
            <a:srgbClr val="FFFFFF">
              <a:alpha val="5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554480"/>
            <a:ext cx="34867" cy="34867"/>
          </a:xfrm>
          <a:prstGeom prst="ellipse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1097280"/>
            <a:ext cx="30506" cy="30506"/>
          </a:xfrm>
          <a:prstGeom prst="ellipse">
            <a:avLst/>
          </a:prstGeom>
          <a:solidFill>
            <a:srgbClr val="FFFFFF">
              <a:alpha val="3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737360"/>
            <a:ext cx="39726" cy="39726"/>
          </a:xfrm>
          <a:prstGeom prst="ellipse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60320"/>
            <a:ext cx="50955" cy="50955"/>
          </a:xfrm>
          <a:prstGeom prst="ellipse">
            <a:avLst/>
          </a:prstGeom>
          <a:solidFill>
            <a:srgbClr val="FFFFFF">
              <a:alpha val="6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2926080"/>
            <a:ext cx="38861" cy="38861"/>
          </a:xfrm>
          <a:prstGeom prst="ellipse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2377440"/>
            <a:ext cx="47177" cy="47177"/>
          </a:xfrm>
          <a:prstGeom prst="ellipse">
            <a:avLst/>
          </a:prstGeom>
          <a:solidFill>
            <a:srgbClr val="FFFFFF">
              <a:alpha val="2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3200400"/>
            <a:ext cx="38820" cy="388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651760"/>
            <a:ext cx="28563" cy="28563"/>
          </a:xfrm>
          <a:prstGeom prst="ellipse">
            <a:avLst/>
          </a:prstGeom>
          <a:solidFill>
            <a:srgbClr val="FFFFFF">
              <a:alpha val="7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017520"/>
            <a:ext cx="49317" cy="49317"/>
          </a:xfrm>
          <a:prstGeom prst="ellipse">
            <a:avLst/>
          </a:prstGeom>
          <a:solidFill>
            <a:srgbClr val="FFFFFF">
              <a:alpha val="2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2468880"/>
            <a:ext cx="35851" cy="35851"/>
          </a:xfrm>
          <a:prstGeom prst="ellipse">
            <a:avLst/>
          </a:prstGeom>
          <a:solidFill>
            <a:srgbClr val="FFFFFF">
              <a:alpha val="61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2743200"/>
            <a:ext cx="23919" cy="23919"/>
          </a:xfrm>
          <a:prstGeom prst="ellipse">
            <a:avLst/>
          </a:prstGeom>
          <a:solidFill>
            <a:srgbClr val="FFFFFF">
              <a:alpha val="3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749040"/>
            <a:ext cx="56784" cy="56784"/>
          </a:xfrm>
          <a:prstGeom prst="ellipse">
            <a:avLst/>
          </a:prstGeom>
          <a:solidFill>
            <a:srgbClr val="FFFFFF">
              <a:alpha val="5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37360" y="4206240"/>
            <a:ext cx="34458" cy="34458"/>
          </a:xfrm>
          <a:prstGeom prst="ellipse">
            <a:avLst/>
          </a:prstGeom>
          <a:solidFill>
            <a:srgbClr val="FFFFFF">
              <a:alpha val="3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0" y="3840480"/>
            <a:ext cx="29427" cy="29427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0" y="4389120"/>
            <a:ext cx="36477" cy="36477"/>
          </a:xfrm>
          <a:prstGeom prst="ellipse">
            <a:avLst/>
          </a:prstGeom>
          <a:solidFill>
            <a:srgbClr val="FFFFFF">
              <a:alpha val="7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3931920"/>
            <a:ext cx="36655" cy="36655"/>
          </a:xfrm>
          <a:prstGeom prst="ellipse">
            <a:avLst/>
          </a:prstGeom>
          <a:solidFill>
            <a:srgbClr val="FFFFFF">
              <a:alpha val="5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0" y="4297680"/>
            <a:ext cx="42695" cy="42695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4023360"/>
            <a:ext cx="45826" cy="45826"/>
          </a:xfrm>
          <a:prstGeom prst="ellipse">
            <a:avLst/>
          </a:prstGeom>
          <a:solidFill>
            <a:srgbClr val="FFFFFF">
              <a:alpha val="4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95360" y="4572000"/>
            <a:ext cx="25321" cy="25321"/>
          </a:xfrm>
          <a:prstGeom prst="ellipse">
            <a:avLst/>
          </a:prstGeom>
          <a:solidFill>
            <a:srgbClr val="FFFFFF">
              <a:alpha val="5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0240" y="4754880"/>
            <a:ext cx="55127" cy="55127"/>
          </a:xfrm>
          <a:prstGeom prst="ellipse">
            <a:avLst/>
          </a:prstGeom>
          <a:solidFill>
            <a:srgbClr val="FFFFFF">
              <a:alpha val="4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1920" y="4663440"/>
            <a:ext cx="49186" cy="49186"/>
          </a:xfrm>
          <a:prstGeom prst="ellipse">
            <a:avLst/>
          </a:prstGeom>
          <a:solidFill>
            <a:srgbClr val="FFFFFF">
              <a:alpha val="3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4846320"/>
            <a:ext cx="28397" cy="28397"/>
          </a:xfrm>
          <a:prstGeom prst="ellipse">
            <a:avLst/>
          </a:prstGeom>
          <a:solidFill>
            <a:srgbClr val="FFFFFF">
              <a:alpha val="33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06640" y="4663440"/>
            <a:ext cx="56124" cy="56124"/>
          </a:xfrm>
          <a:prstGeom prst="ellipse">
            <a:avLst/>
          </a:prstGeom>
          <a:solidFill>
            <a:srgbClr val="FFFFFF">
              <a:alpha val="5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" y="4937760"/>
            <a:ext cx="30138" cy="30138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" y="1097280"/>
            <a:ext cx="1188720" cy="731520"/>
          </a:xfrm>
          <a:prstGeom prst="line">
            <a:avLst/>
          </a:prstGeom>
          <a:noFill/>
          <a:ln w="9525">
            <a:solidFill>
              <a:srgbClr val="5B6ECD">
                <a:alpha val="45000"/>
              </a:srgbClr>
            </a:solidFill>
            <a:prstDash val="sysDot"/>
          </a:ln>
        </p:spPr>
      </p:sp>
      <p:sp>
        <p:nvSpPr>
          <p:cNvPr id="41" name="Shape 39"/>
          <p:cNvSpPr/>
          <p:nvPr/>
        </p:nvSpPr>
        <p:spPr>
          <a:xfrm>
            <a:off x="1920240" y="1828800"/>
            <a:ext cx="0" cy="1097280"/>
          </a:xfrm>
          <a:prstGeom prst="line">
            <a:avLst/>
          </a:prstGeom>
          <a:noFill/>
          <a:ln w="9525">
            <a:solidFill>
              <a:srgbClr val="5B6ECD">
                <a:alpha val="45000"/>
              </a:srgbClr>
            </a:solidFill>
            <a:prstDash val="sysDot"/>
          </a:ln>
        </p:spPr>
      </p:sp>
      <p:sp>
        <p:nvSpPr>
          <p:cNvPr id="42" name="Shape 40"/>
          <p:cNvSpPr/>
          <p:nvPr/>
        </p:nvSpPr>
        <p:spPr>
          <a:xfrm>
            <a:off x="1920240" y="1828800"/>
            <a:ext cx="1097280" cy="0"/>
          </a:xfrm>
          <a:prstGeom prst="line">
            <a:avLst/>
          </a:prstGeom>
          <a:noFill/>
          <a:ln w="9525">
            <a:solidFill>
              <a:srgbClr val="5B6ECD">
                <a:alpha val="45000"/>
              </a:srgbClr>
            </a:solidFill>
            <a:prstDash val="sysDot"/>
          </a:ln>
        </p:spPr>
      </p:sp>
      <p:sp>
        <p:nvSpPr>
          <p:cNvPr id="43" name="Shape 41"/>
          <p:cNvSpPr/>
          <p:nvPr/>
        </p:nvSpPr>
        <p:spPr>
          <a:xfrm>
            <a:off x="6583680" y="731520"/>
            <a:ext cx="1188720" cy="914400"/>
          </a:xfrm>
          <a:prstGeom prst="line">
            <a:avLst/>
          </a:prstGeom>
          <a:noFill/>
          <a:ln w="9525">
            <a:solidFill>
              <a:srgbClr val="5B6ECD">
                <a:alpha val="45000"/>
              </a:srgbClr>
            </a:solidFill>
            <a:prstDash val="sysDot"/>
          </a:ln>
        </p:spPr>
      </p:sp>
      <p:sp>
        <p:nvSpPr>
          <p:cNvPr id="44" name="Shape 42"/>
          <p:cNvSpPr/>
          <p:nvPr/>
        </p:nvSpPr>
        <p:spPr>
          <a:xfrm>
            <a:off x="7772400" y="1645920"/>
            <a:ext cx="548640" cy="1188720"/>
          </a:xfrm>
          <a:prstGeom prst="line">
            <a:avLst/>
          </a:prstGeom>
          <a:noFill/>
          <a:ln w="9525">
            <a:solidFill>
              <a:srgbClr val="5B6ECD">
                <a:alpha val="45000"/>
              </a:srgbClr>
            </a:solidFill>
            <a:prstDash val="sysDot"/>
          </a:ln>
        </p:spPr>
      </p:sp>
      <p:sp>
        <p:nvSpPr>
          <p:cNvPr id="45" name="Shape 43"/>
          <p:cNvSpPr/>
          <p:nvPr/>
        </p:nvSpPr>
        <p:spPr>
          <a:xfrm>
            <a:off x="7772400" y="1645920"/>
            <a:ext cx="0" cy="1097280"/>
          </a:xfrm>
          <a:prstGeom prst="line">
            <a:avLst/>
          </a:prstGeom>
          <a:noFill/>
          <a:ln w="9525">
            <a:solidFill>
              <a:srgbClr val="5B6ECD">
                <a:alpha val="45000"/>
              </a:srgbClr>
            </a:solidFill>
            <a:prstDash val="sysDot"/>
          </a:ln>
        </p:spPr>
      </p:sp>
      <p:sp>
        <p:nvSpPr>
          <p:cNvPr id="46" name="Shape 44"/>
          <p:cNvSpPr/>
          <p:nvPr/>
        </p:nvSpPr>
        <p:spPr>
          <a:xfrm>
            <a:off x="667512" y="1033272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" y="987552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56232" y="1764792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10512" y="1719072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07592" y="2862072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61872" y="2816352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53512" y="1399032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07792" y="1353312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19672" y="667512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73952" y="621792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08392" y="1581912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62672" y="1536192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57032" y="2770632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11312" y="2724912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68312" y="2679192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22592" y="2633472"/>
            <a:ext cx="219456" cy="219456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71600" y="15087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63" name="Shape 61"/>
          <p:cNvSpPr/>
          <p:nvPr/>
        </p:nvSpPr>
        <p:spPr>
          <a:xfrm>
            <a:off x="3200400" y="2450592"/>
            <a:ext cx="2743200" cy="0"/>
          </a:xfrm>
          <a:prstGeom prst="line">
            <a:avLst/>
          </a:prstGeom>
          <a:noFill/>
          <a:ln w="9525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71600" y="25786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50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BOLDBAATAR BOLOR  ·  Cohort 2  ·  AI Academy Asia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474720" y="3108960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C9A84C">
              <a:alpha val="85000"/>
            </a:srgbClr>
          </a:solidFill>
          <a:ln w="12700">
            <a:solidFill>
              <a:srgbClr val="C9A84C"/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3474720" y="3127248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600" dirty="0">
                <a:solidFill>
                  <a:srgbClr val="0B0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1371600" y="3977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find the team behind the next great idea.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1428</Words>
  <Application>Microsoft Office PowerPoint</Application>
  <PresentationFormat>On-screen Show (16:9)</PresentationFormat>
  <Paragraphs>193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Zetwork — AI Engineering Capstone</dc:title>
  <dc:subject>PptxGenJS Presentation</dc:subject>
  <dc:creator>Boldbaatar Bolor</dc:creator>
  <cp:lastModifiedBy>User</cp:lastModifiedBy>
  <cp:revision>3</cp:revision>
  <dcterms:created xsi:type="dcterms:W3CDTF">2026-06-29T11:12:53Z</dcterms:created>
  <dcterms:modified xsi:type="dcterms:W3CDTF">2026-07-01T15:49:53Z</dcterms:modified>
</cp:coreProperties>
</file>