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-1371600" y="-1828800"/>
            <a:ext cx="6400800" cy="640080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14182C"/>
              </a:gs>
              <a:gs pos="100000">
                <a:srgbClr val="0B0F19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498079" y="3108960"/>
            <a:ext cx="5943600" cy="5943600"/>
          </a:xfrm>
          <a:prstGeom prst="roundRect">
            <a:avLst>
              <a:gd name="adj" fmla="val 50000"/>
            </a:avLst>
          </a:prstGeom>
          <a:solidFill>
            <a:srgbClr val="151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zetwork_badge_l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417320"/>
            <a:ext cx="1554480" cy="1554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606040" y="1371600"/>
            <a:ext cx="73152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6600" b="1">
                <a:solidFill>
                  <a:srgbClr val="F3F4F6"/>
                </a:solidFill>
                <a:latin typeface="Segoe UI Semibold"/>
              </a:rPr>
              <a:t>Zetwork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60" y="27249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spc="300">
                <a:solidFill>
                  <a:srgbClr val="818CF8"/>
                </a:solidFill>
                <a:latin typeface="Consolas"/>
              </a:rPr>
              <a:t>POWERING TECH TEAM MATCHING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611880"/>
            <a:ext cx="7863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>
                <a:solidFill>
                  <a:srgbClr val="CBD5E1"/>
                </a:solidFill>
                <a:latin typeface="Segoe UI"/>
              </a:rPr>
              <a:t>A developer team-matching platform that pairs engineers by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>
                <a:solidFill>
                  <a:srgbClr val="CBD5E1"/>
                </a:solidFill>
                <a:latin typeface="Segoe UI"/>
              </a:rPr>
              <a:t>skills, mindset &amp; vibe — using offline ML archetypes and a 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>
                <a:solidFill>
                  <a:srgbClr val="CBD5E1"/>
                </a:solidFill>
                <a:latin typeface="Segoe UI"/>
              </a:rPr>
              <a:t>5-factor compatibility model.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5257800"/>
            <a:ext cx="4754880" cy="1828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headshot_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5440680"/>
            <a:ext cx="868680" cy="8686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5468112"/>
            <a:ext cx="45720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F3F4F6"/>
                </a:solidFill>
                <a:latin typeface="Segoe UI Semibold"/>
              </a:rPr>
              <a:t>Boldbaatar Bolor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94A3B8"/>
                </a:solidFill>
                <a:latin typeface="Segoe UI"/>
              </a:rPr>
              <a:t>Capstone Project  ·  Cohort 2</a:t>
            </a:r>
          </a:p>
        </p:txBody>
      </p:sp>
      <p:pic>
        <p:nvPicPr>
          <p:cNvPr id="12" name="Picture 11" descr="aiacadem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9800" y="5486400"/>
            <a:ext cx="713232" cy="7132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589520" y="5504688"/>
            <a:ext cx="21488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64748B"/>
                </a:solidFill>
                <a:latin typeface="Segoe UI"/>
              </a:rPr>
              <a:t>Presented at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3F4F6"/>
                </a:solidFill>
                <a:latin typeface="Segoe UI Semibold"/>
              </a:rPr>
              <a:t>AI Academy Asia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zetwork_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11480"/>
            <a:ext cx="362102" cy="36210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93038" y="385145"/>
            <a:ext cx="2926080" cy="5449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39" b="1">
                <a:solidFill>
                  <a:srgbClr val="F3F4F6"/>
                </a:solidFill>
                <a:latin typeface="Segoe UI Semibold"/>
              </a:rPr>
              <a:t>Zetwork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24128"/>
            <a:ext cx="11183112" cy="12801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316736"/>
            <a:ext cx="256032" cy="45720"/>
          </a:xfrm>
          <a:prstGeom prst="rect">
            <a:avLst/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2104" y="1207007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spc="250">
                <a:solidFill>
                  <a:srgbClr val="818CF8"/>
                </a:solidFill>
                <a:latin typeface="Consolas"/>
              </a:rPr>
              <a:t>THE 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517904"/>
            <a:ext cx="11247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3F4F6"/>
                </a:solidFill>
                <a:latin typeface="Segoe UI Semibold"/>
              </a:rPr>
              <a:t>Finding the right people to build with is broken</a:t>
            </a:r>
          </a:p>
        </p:txBody>
      </p:sp>
      <p:pic>
        <p:nvPicPr>
          <p:cNvPr id="9" name="Picture 8" descr="aiacadem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327648"/>
            <a:ext cx="274320" cy="274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68680" y="6327648"/>
            <a:ext cx="5486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4A3B8"/>
                </a:solidFill>
                <a:latin typeface="Segoe UI"/>
              </a:rPr>
              <a:t>Boldbaatar Bolor</a:t>
            </a:r>
            <a:r>
              <a:rPr sz="900" b="0">
                <a:solidFill>
                  <a:srgbClr val="64748B"/>
                </a:solidFill>
                <a:latin typeface="Segoe UI"/>
              </a:rPr>
              <a:t>   ·  Cohort 2  ·  AI Academy Asia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327648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onsolas"/>
              </a:rPr>
              <a:t>02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331720"/>
            <a:ext cx="2670048" cy="3246120"/>
          </a:xfrm>
          <a:prstGeom prst="roundRect">
            <a:avLst>
              <a:gd name="adj" fmla="val 10000"/>
            </a:avLst>
          </a:prstGeom>
          <a:solidFill>
            <a:srgbClr val="111624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02920" y="2331720"/>
            <a:ext cx="2670048" cy="9144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" y="2697480"/>
            <a:ext cx="221284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818CF8"/>
                </a:solidFill>
                <a:latin typeface="Consolas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" y="3063240"/>
            <a:ext cx="221284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F3F4F6"/>
                </a:solidFill>
                <a:latin typeface="Segoe UI Semibold"/>
              </a:rPr>
              <a:t>Networking is noise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" y="3977639"/>
            <a:ext cx="2212848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94A3B8"/>
                </a:solidFill>
                <a:latin typeface="Segoe UI"/>
              </a:rPr>
              <a:t>Job boards and LinkedIn optimise for hiring, not for finding a compatible person to actually build with.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46704" y="2331720"/>
            <a:ext cx="2670048" cy="3246120"/>
          </a:xfrm>
          <a:prstGeom prst="roundRect">
            <a:avLst>
              <a:gd name="adj" fmla="val 10000"/>
            </a:avLst>
          </a:prstGeom>
          <a:solidFill>
            <a:srgbClr val="111624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346704" y="2331720"/>
            <a:ext cx="2670048" cy="9144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02736" y="2697480"/>
            <a:ext cx="221284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818CF8"/>
                </a:solidFill>
                <a:latin typeface="Consolas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02736" y="3063240"/>
            <a:ext cx="221284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F3F4F6"/>
                </a:solidFill>
                <a:latin typeface="Segoe UI Semibold"/>
              </a:rPr>
              <a:t>Skills ≠ fit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02736" y="3977639"/>
            <a:ext cx="2212848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94A3B8"/>
                </a:solidFill>
                <a:latin typeface="Segoe UI"/>
              </a:rPr>
              <a:t>Two great engineers can still clash. Stack overlap, working style and goals all matter — but nothing measures them together.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0488" y="2331720"/>
            <a:ext cx="2670048" cy="3246120"/>
          </a:xfrm>
          <a:prstGeom prst="roundRect">
            <a:avLst>
              <a:gd name="adj" fmla="val 10000"/>
            </a:avLst>
          </a:prstGeom>
          <a:solidFill>
            <a:srgbClr val="111624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190488" y="2331720"/>
            <a:ext cx="2670048" cy="9144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2697480"/>
            <a:ext cx="221284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818CF8"/>
                </a:solidFill>
                <a:latin typeface="Consolas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3063240"/>
            <a:ext cx="221284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F3F4F6"/>
                </a:solidFill>
                <a:latin typeface="Segoe UI Semibold"/>
              </a:rPr>
              <a:t>Discovery is flat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3977639"/>
            <a:ext cx="2212848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94A3B8"/>
                </a:solidFill>
                <a:latin typeface="Segoe UI"/>
              </a:rPr>
              <a:t>Endless lists and filters. There is no intuitive way to *see* who sits closest to you in skill-space.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34272" y="2331720"/>
            <a:ext cx="2670048" cy="3246120"/>
          </a:xfrm>
          <a:prstGeom prst="roundRect">
            <a:avLst>
              <a:gd name="adj" fmla="val 10000"/>
            </a:avLst>
          </a:prstGeom>
          <a:solidFill>
            <a:srgbClr val="111624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034272" y="2331720"/>
            <a:ext cx="2670048" cy="9144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90304" y="2697480"/>
            <a:ext cx="221284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818CF8"/>
                </a:solidFill>
                <a:latin typeface="Consolas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90304" y="3063240"/>
            <a:ext cx="221284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F3F4F6"/>
                </a:solidFill>
                <a:latin typeface="Segoe UI Semibold"/>
              </a:rPr>
              <a:t>Cold &amp; impersonal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90304" y="3977639"/>
            <a:ext cx="2212848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94A3B8"/>
                </a:solidFill>
                <a:latin typeface="Segoe UI"/>
              </a:rPr>
              <a:t>Reaching out feels transactional. There's no shared language for “why” two developers would click.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574243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CBD5E1"/>
                </a:solidFill>
                <a:latin typeface="Segoe UI"/>
              </a:rPr>
              <a:t>Zetwork turns “who should I build with?” into a measurable, visual question.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zetwork_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11480"/>
            <a:ext cx="362102" cy="36210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93038" y="385145"/>
            <a:ext cx="2926080" cy="5449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39" b="1">
                <a:solidFill>
                  <a:srgbClr val="F3F4F6"/>
                </a:solidFill>
                <a:latin typeface="Segoe UI Semibold"/>
              </a:rPr>
              <a:t>Zetwork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24128"/>
            <a:ext cx="11183112" cy="12801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316736"/>
            <a:ext cx="256032" cy="45720"/>
          </a:xfrm>
          <a:prstGeom prst="rect">
            <a:avLst/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2104" y="1207007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spc="250">
                <a:solidFill>
                  <a:srgbClr val="818CF8"/>
                </a:solidFill>
                <a:latin typeface="Consolas"/>
              </a:rPr>
              <a:t>THE 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517904"/>
            <a:ext cx="11247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3F4F6"/>
                </a:solidFill>
                <a:latin typeface="Segoe UI Semibold"/>
              </a:rPr>
              <a:t>A team-matching engine for developers</a:t>
            </a:r>
          </a:p>
        </p:txBody>
      </p:sp>
      <p:pic>
        <p:nvPicPr>
          <p:cNvPr id="9" name="Picture 8" descr="aiacadem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327648"/>
            <a:ext cx="274320" cy="274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68680" y="6327648"/>
            <a:ext cx="5486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4A3B8"/>
                </a:solidFill>
                <a:latin typeface="Segoe UI"/>
              </a:rPr>
              <a:t>Boldbaatar Bolor</a:t>
            </a:r>
            <a:r>
              <a:rPr sz="900" b="0">
                <a:solidFill>
                  <a:srgbClr val="64748B"/>
                </a:solidFill>
                <a:latin typeface="Segoe UI"/>
              </a:rPr>
              <a:t>   ·  Cohort 2  ·  AI Academy Asia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327648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onsolas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377440"/>
            <a:ext cx="521208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CBD5E1"/>
                </a:solidFill>
                <a:latin typeface="Segoe UI"/>
              </a:rPr>
              <a:t>Zetwork profiles each developer by their </a:t>
            </a:r>
            <a:r>
              <a:rPr sz="1450" b="1">
                <a:solidFill>
                  <a:srgbClr val="F3F4F6"/>
                </a:solidFill>
                <a:latin typeface="Segoe UI"/>
              </a:rPr>
              <a:t>languages, interests, current project</a:t>
            </a:r>
            <a:r>
              <a:rPr sz="1450" b="0">
                <a:solidFill>
                  <a:srgbClr val="CBD5E1"/>
                </a:solidFill>
                <a:latin typeface="Segoe UI"/>
              </a:rPr>
              <a:t> and even a zodiac sign — then places them in a shared </a:t>
            </a:r>
            <a:r>
              <a:rPr sz="1450" b="1">
                <a:solidFill>
                  <a:srgbClr val="818CF8"/>
                </a:solidFill>
                <a:latin typeface="Segoe UI"/>
              </a:rPr>
              <a:t>skill-space</a:t>
            </a:r>
            <a:r>
              <a:rPr sz="1450" b="0">
                <a:solidFill>
                  <a:srgbClr val="CBD5E1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600" b="0">
                <a:solidFill>
                  <a:srgbClr val="CBD5E1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CBD5E1"/>
                </a:solidFill>
                <a:latin typeface="Segoe UI"/>
              </a:rPr>
              <a:t>An offline ML model assigns one of five </a:t>
            </a:r>
            <a:r>
              <a:rPr sz="1450" b="1">
                <a:solidFill>
                  <a:srgbClr val="F3F4F6"/>
                </a:solidFill>
                <a:latin typeface="Segoe UI"/>
              </a:rPr>
              <a:t>developer archetypes</a:t>
            </a:r>
            <a:r>
              <a:rPr sz="1450" b="0">
                <a:solidFill>
                  <a:srgbClr val="CBD5E1"/>
                </a:solidFill>
                <a:latin typeface="Segoe UI"/>
              </a:rPr>
              <a:t>, and a transparent 5-factor score explains </a:t>
            </a:r>
            <a:r>
              <a:rPr sz="1450" b="1">
                <a:solidFill>
                  <a:srgbClr val="818CF8"/>
                </a:solidFill>
                <a:latin typeface="Segoe UI"/>
              </a:rPr>
              <a:t>exactly why</a:t>
            </a:r>
            <a:r>
              <a:rPr sz="1450" b="0">
                <a:solidFill>
                  <a:srgbClr val="CBD5E1"/>
                </a:solidFill>
                <a:latin typeface="Segoe UI"/>
              </a:rPr>
              <a:t> two people match — then lets them connect and chat.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892040"/>
            <a:ext cx="1572768" cy="960120"/>
          </a:xfrm>
          <a:prstGeom prst="roundRect">
            <a:avLst>
              <a:gd name="adj" fmla="val 14000"/>
            </a:avLst>
          </a:prstGeom>
          <a:solidFill>
            <a:srgbClr val="111624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5029200"/>
            <a:ext cx="15727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818CF8"/>
                </a:solidFill>
                <a:latin typeface="Segoe UI Semibold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486400"/>
            <a:ext cx="157276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developer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archetypes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240280" y="4892040"/>
            <a:ext cx="1572768" cy="960120"/>
          </a:xfrm>
          <a:prstGeom prst="roundRect">
            <a:avLst>
              <a:gd name="adj" fmla="val 14000"/>
            </a:avLst>
          </a:prstGeom>
          <a:solidFill>
            <a:srgbClr val="111624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240280" y="5029200"/>
            <a:ext cx="15727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818CF8"/>
                </a:solidFill>
                <a:latin typeface="Segoe UI Semibold"/>
              </a:rPr>
              <a:t>71,223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40280" y="5486400"/>
            <a:ext cx="157276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Stack Overflow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devs modelled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977639" y="4892040"/>
            <a:ext cx="1572768" cy="960120"/>
          </a:xfrm>
          <a:prstGeom prst="roundRect">
            <a:avLst>
              <a:gd name="adj" fmla="val 14000"/>
            </a:avLst>
          </a:prstGeom>
          <a:solidFill>
            <a:srgbClr val="111624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77639" y="5029200"/>
            <a:ext cx="15727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818CF8"/>
                </a:solidFill>
                <a:latin typeface="Segoe UI Semibold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77639" y="5486400"/>
            <a:ext cx="157276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match factors,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fully weighted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26480" y="2331720"/>
            <a:ext cx="5559552" cy="3566160"/>
          </a:xfrm>
          <a:prstGeom prst="roundRect">
            <a:avLst>
              <a:gd name="adj" fmla="val 10000"/>
            </a:avLst>
          </a:prstGeom>
          <a:solidFill>
            <a:srgbClr val="0F1420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26060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spc="150">
                <a:solidFill>
                  <a:srgbClr val="818CF8"/>
                </a:solidFill>
                <a:latin typeface="Consolas"/>
              </a:rPr>
              <a:t>What a user gets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92240" y="3108960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84848" y="3008376"/>
            <a:ext cx="46634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3F4F6"/>
                </a:solidFill>
                <a:latin typeface="Segoe UI"/>
              </a:rPr>
              <a:t>Instant archetype  </a:t>
            </a:r>
            <a:r>
              <a:rPr sz="1150" b="0">
                <a:solidFill>
                  <a:srgbClr val="94A3B8"/>
                </a:solidFill>
                <a:latin typeface="Segoe UI"/>
              </a:rPr>
              <a:t>Your profile is classified the moment you save it.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92240" y="3657600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84848" y="3557016"/>
            <a:ext cx="46634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3F4F6"/>
                </a:solidFill>
                <a:latin typeface="Segoe UI"/>
              </a:rPr>
              <a:t>Ranked matches  </a:t>
            </a:r>
            <a:r>
              <a:rPr sz="1150" b="0">
                <a:solidFill>
                  <a:srgbClr val="94A3B8"/>
                </a:solidFill>
                <a:latin typeface="Segoe UI"/>
              </a:rPr>
              <a:t>Everyone in the network scored 0–100 against you.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92240" y="4206240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84848" y="4105656"/>
            <a:ext cx="46634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3F4F6"/>
                </a:solidFill>
                <a:latin typeface="Segoe UI"/>
              </a:rPr>
              <a:t>Explainable score  </a:t>
            </a:r>
            <a:r>
              <a:rPr sz="1150" b="0">
                <a:solidFill>
                  <a:srgbClr val="94A3B8"/>
                </a:solidFill>
                <a:latin typeface="Segoe UI"/>
              </a:rPr>
              <a:t>Five bars show why — not a black box.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92240" y="4754880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84848" y="4654296"/>
            <a:ext cx="46634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3F4F6"/>
                </a:solidFill>
                <a:latin typeface="Segoe UI"/>
              </a:rPr>
              <a:t>Constellation map  </a:t>
            </a:r>
            <a:r>
              <a:rPr sz="1150" b="0">
                <a:solidFill>
                  <a:srgbClr val="94A3B8"/>
                </a:solidFill>
                <a:latin typeface="Segoe UI"/>
              </a:rPr>
              <a:t>See your matches as a star-field you can click.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92240" y="5303520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84848" y="5202936"/>
            <a:ext cx="46634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3F4F6"/>
                </a:solidFill>
                <a:latin typeface="Segoe UI"/>
              </a:rPr>
              <a:t>Connect &amp; chat  </a:t>
            </a:r>
            <a:r>
              <a:rPr sz="1150" b="0">
                <a:solidFill>
                  <a:srgbClr val="94A3B8"/>
                </a:solidFill>
                <a:latin typeface="Segoe UI"/>
              </a:rPr>
              <a:t>Requests, accept/decline, and 1:1 messaging.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zetwork_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11480"/>
            <a:ext cx="362102" cy="36210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93038" y="385145"/>
            <a:ext cx="2926080" cy="5449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39" b="1">
                <a:solidFill>
                  <a:srgbClr val="F3F4F6"/>
                </a:solidFill>
                <a:latin typeface="Segoe UI Semibold"/>
              </a:rPr>
              <a:t>Zetwork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24128"/>
            <a:ext cx="11183112" cy="12801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316736"/>
            <a:ext cx="256032" cy="45720"/>
          </a:xfrm>
          <a:prstGeom prst="rect">
            <a:avLst/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2104" y="1207007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spc="250">
                <a:solidFill>
                  <a:srgbClr val="818CF8"/>
                </a:solidFill>
                <a:latin typeface="Consolas"/>
              </a:rPr>
              <a:t>HOW IT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517904"/>
            <a:ext cx="11247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3F4F6"/>
                </a:solidFill>
                <a:latin typeface="Segoe UI Semibold"/>
              </a:rPr>
              <a:t>From profile to connection in one flow</a:t>
            </a:r>
          </a:p>
        </p:txBody>
      </p:sp>
      <p:pic>
        <p:nvPicPr>
          <p:cNvPr id="9" name="Picture 8" descr="aiacadem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327648"/>
            <a:ext cx="274320" cy="274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68680" y="6327648"/>
            <a:ext cx="5486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4A3B8"/>
                </a:solidFill>
                <a:latin typeface="Segoe UI"/>
              </a:rPr>
              <a:t>Boldbaatar Bolor</a:t>
            </a:r>
            <a:r>
              <a:rPr sz="900" b="0">
                <a:solidFill>
                  <a:srgbClr val="64748B"/>
                </a:solidFill>
                <a:latin typeface="Segoe UI"/>
              </a:rPr>
              <a:t>   ·  Cohort 2  ·  AI Academy Asia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327648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onsolas"/>
              </a:rPr>
              <a:t>04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735" y="2743200"/>
            <a:ext cx="2084831" cy="2286000"/>
          </a:xfrm>
          <a:prstGeom prst="roundRect">
            <a:avLst>
              <a:gd name="adj" fmla="val 12000"/>
            </a:avLst>
          </a:prstGeom>
          <a:solidFill>
            <a:srgbClr val="111624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7735" y="2743200"/>
            <a:ext cx="2084831" cy="8229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83767" y="3017520"/>
            <a:ext cx="566928" cy="56692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3767" y="301752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6366F1"/>
                </a:solidFill>
                <a:latin typeface="Consolas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3767" y="3730752"/>
            <a:ext cx="16276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3F4F6"/>
                </a:solidFill>
                <a:latin typeface="Segoe UI Semibold"/>
              </a:rPr>
              <a:t>Build profile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3767" y="4160520"/>
            <a:ext cx="1627631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Languages, interests, a free-text build goal &amp; zodiac sign.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4279" y="3611880"/>
            <a:ext cx="182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64748B"/>
                </a:solidFill>
                <a:latin typeface="Segoe UI Semibold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840583" y="2743200"/>
            <a:ext cx="2084831" cy="2286000"/>
          </a:xfrm>
          <a:prstGeom prst="roundRect">
            <a:avLst>
              <a:gd name="adj" fmla="val 12000"/>
            </a:avLst>
          </a:prstGeom>
          <a:solidFill>
            <a:srgbClr val="111624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840583" y="2743200"/>
            <a:ext cx="2084831" cy="82296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096615" y="3017520"/>
            <a:ext cx="566928" cy="56692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096615" y="301752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8B5CF6"/>
                </a:solidFill>
                <a:latin typeface="Consolas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96615" y="3730752"/>
            <a:ext cx="16276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3F4F6"/>
                </a:solidFill>
                <a:latin typeface="Segoe UI Semibold"/>
              </a:rPr>
              <a:t>ML archetype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96615" y="4160520"/>
            <a:ext cx="1627631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PCA projection + k-Means assigns 1 of 5 archetypes.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07127" y="3611880"/>
            <a:ext cx="182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64748B"/>
                </a:solidFill>
                <a:latin typeface="Segoe UI Semibold"/>
              </a:rPr>
              <a:t>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53431" y="2743200"/>
            <a:ext cx="2084831" cy="2286000"/>
          </a:xfrm>
          <a:prstGeom prst="roundRect">
            <a:avLst>
              <a:gd name="adj" fmla="val 12000"/>
            </a:avLst>
          </a:prstGeom>
          <a:solidFill>
            <a:srgbClr val="111624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053431" y="2743200"/>
            <a:ext cx="2084831" cy="82296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309463" y="3017520"/>
            <a:ext cx="566928" cy="56692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9463" y="301752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3B82F6"/>
                </a:solidFill>
                <a:latin typeface="Consolas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09463" y="3730752"/>
            <a:ext cx="16276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3F4F6"/>
                </a:solidFill>
                <a:latin typeface="Segoe UI Semibold"/>
              </a:rPr>
              <a:t>5-factor score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9463" y="4160520"/>
            <a:ext cx="1627631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Every other dev is scored 0–100 against you.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19975" y="3611880"/>
            <a:ext cx="182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64748B"/>
                </a:solidFill>
                <a:latin typeface="Segoe UI Semibold"/>
              </a:rPr>
              <a:t>›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266279" y="2743200"/>
            <a:ext cx="2084831" cy="2286000"/>
          </a:xfrm>
          <a:prstGeom prst="roundRect">
            <a:avLst>
              <a:gd name="adj" fmla="val 12000"/>
            </a:avLst>
          </a:prstGeom>
          <a:solidFill>
            <a:srgbClr val="111624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266279" y="2743200"/>
            <a:ext cx="2084831" cy="82296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522311" y="3017520"/>
            <a:ext cx="566928" cy="56692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22311" y="301752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Consolas"/>
              </a:rPr>
              <a:t>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22311" y="3730752"/>
            <a:ext cx="16276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3F4F6"/>
                </a:solidFill>
                <a:latin typeface="Segoe UI Semibold"/>
              </a:rPr>
              <a:t>Constellation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22311" y="4160520"/>
            <a:ext cx="1627631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Matches render as a clickable 2D star-map.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32823" y="3611880"/>
            <a:ext cx="182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64748B"/>
                </a:solidFill>
                <a:latin typeface="Segoe UI Semibold"/>
              </a:rPr>
              <a:t>›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479127" y="2743200"/>
            <a:ext cx="2084831" cy="2286000"/>
          </a:xfrm>
          <a:prstGeom prst="roundRect">
            <a:avLst>
              <a:gd name="adj" fmla="val 12000"/>
            </a:avLst>
          </a:prstGeom>
          <a:solidFill>
            <a:srgbClr val="111624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9479127" y="2743200"/>
            <a:ext cx="2084831" cy="82296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735159" y="3017520"/>
            <a:ext cx="566928" cy="56692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735159" y="301752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Consolas"/>
              </a:rPr>
              <a:t>05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735159" y="3730752"/>
            <a:ext cx="16276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3F4F6"/>
                </a:solidFill>
                <a:latin typeface="Segoe UI Semibold"/>
              </a:rPr>
              <a:t>Connect &amp; chat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35159" y="4160520"/>
            <a:ext cx="1627631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Send requests, accept, and message your matches.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7735" y="5349240"/>
            <a:ext cx="109362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4A3B8"/>
                </a:solidFill>
                <a:latin typeface="Segoe UI"/>
              </a:rPr>
              <a:t>Runs fully offline — the ML model is pre-trained artifacts shipped with the app, so matching is instant and private.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zetwork_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11480"/>
            <a:ext cx="362102" cy="36210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93038" y="385145"/>
            <a:ext cx="2926080" cy="5449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39" b="1">
                <a:solidFill>
                  <a:srgbClr val="F3F4F6"/>
                </a:solidFill>
                <a:latin typeface="Segoe UI Semibold"/>
              </a:rPr>
              <a:t>Zetwork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24128"/>
            <a:ext cx="11183112" cy="12801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316736"/>
            <a:ext cx="256032" cy="4572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2104" y="1207007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spc="250">
                <a:solidFill>
                  <a:srgbClr val="8B5CF6"/>
                </a:solidFill>
                <a:latin typeface="Consolas"/>
              </a:rPr>
              <a:t>THE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517904"/>
            <a:ext cx="11247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3F4F6"/>
                </a:solidFill>
                <a:latin typeface="Segoe UI Semibold"/>
              </a:rPr>
              <a:t>Five developer archetypes</a:t>
            </a:r>
          </a:p>
        </p:txBody>
      </p:sp>
      <p:pic>
        <p:nvPicPr>
          <p:cNvPr id="9" name="Picture 8" descr="aiacadem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327648"/>
            <a:ext cx="274320" cy="274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68680" y="6327648"/>
            <a:ext cx="5486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4A3B8"/>
                </a:solidFill>
                <a:latin typeface="Segoe UI"/>
              </a:rPr>
              <a:t>Boldbaatar Bolor</a:t>
            </a:r>
            <a:r>
              <a:rPr sz="900" b="0">
                <a:solidFill>
                  <a:srgbClr val="64748B"/>
                </a:solidFill>
                <a:latin typeface="Segoe UI"/>
              </a:rPr>
              <a:t>   ·  Cohort 2  ·  AI Academy Asia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327648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onsolas"/>
              </a:rPr>
              <a:t>05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5439" y="2286000"/>
            <a:ext cx="3566160" cy="1481328"/>
          </a:xfrm>
          <a:prstGeom prst="roundRect">
            <a:avLst>
              <a:gd name="adj" fmla="val 11000"/>
            </a:avLst>
          </a:prstGeom>
          <a:solidFill>
            <a:srgbClr val="111624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45439" y="2286000"/>
            <a:ext cx="100584" cy="1481328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19759" y="2578608"/>
            <a:ext cx="457200" cy="457200"/>
          </a:xfrm>
          <a:prstGeom prst="roundRect">
            <a:avLst>
              <a:gd name="adj" fmla="val 28000"/>
            </a:avLst>
          </a:prstGeom>
          <a:noFill/>
          <a:ln w="2032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47775" y="2706624"/>
            <a:ext cx="201168" cy="20116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59839" y="2523744"/>
            <a:ext cx="2468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3F4F6"/>
                </a:solidFill>
                <a:latin typeface="Segoe UI Semibold"/>
              </a:rPr>
              <a:t>Code Architect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spc="150">
                <a:solidFill>
                  <a:srgbClr val="3B82F6"/>
                </a:solidFill>
                <a:latin typeface="Consolas"/>
              </a:rPr>
              <a:t>BACKEND &amp; SYSTEMS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9759" y="3218688"/>
            <a:ext cx="30632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4A3B8"/>
                </a:solidFill>
                <a:latin typeface="Segoe UI"/>
              </a:rPr>
              <a:t>Scalable backends, databases &amp; system architecture.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12767" y="2286000"/>
            <a:ext cx="3566160" cy="1481328"/>
          </a:xfrm>
          <a:prstGeom prst="roundRect">
            <a:avLst>
              <a:gd name="adj" fmla="val 11000"/>
            </a:avLst>
          </a:prstGeom>
          <a:solidFill>
            <a:srgbClr val="111624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312767" y="2286000"/>
            <a:ext cx="100584" cy="1481328"/>
          </a:xfrm>
          <a:prstGeom prst="roundRect">
            <a:avLst>
              <a:gd name="adj" fmla="val 50000"/>
            </a:avLst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587087" y="2578608"/>
            <a:ext cx="457200" cy="457200"/>
          </a:xfrm>
          <a:prstGeom prst="roundRect">
            <a:avLst>
              <a:gd name="adj" fmla="val 28000"/>
            </a:avLst>
          </a:prstGeom>
          <a:noFill/>
          <a:ln w="20320">
            <a:solidFill>
              <a:srgbClr val="EC48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715103" y="2706624"/>
            <a:ext cx="201168" cy="201168"/>
          </a:xfrm>
          <a:prstGeom prst="ellipse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27167" y="2523744"/>
            <a:ext cx="2468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3F4F6"/>
                </a:solidFill>
                <a:latin typeface="Segoe UI Semibold"/>
              </a:rPr>
              <a:t>Pixel Alchemist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spc="150">
                <a:solidFill>
                  <a:srgbClr val="EC4899"/>
                </a:solidFill>
                <a:latin typeface="Consolas"/>
              </a:rPr>
              <a:t>UI &amp; DESIGN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87087" y="3218688"/>
            <a:ext cx="30632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4A3B8"/>
                </a:solidFill>
                <a:latin typeface="Segoe UI"/>
              </a:rPr>
              <a:t>Beautiful interfaces, animations &amp; user experience.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80095" y="2286000"/>
            <a:ext cx="3566160" cy="1481328"/>
          </a:xfrm>
          <a:prstGeom prst="roundRect">
            <a:avLst>
              <a:gd name="adj" fmla="val 11000"/>
            </a:avLst>
          </a:prstGeom>
          <a:solidFill>
            <a:srgbClr val="111624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080095" y="2286000"/>
            <a:ext cx="100584" cy="1481328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354415" y="2578608"/>
            <a:ext cx="457200" cy="457200"/>
          </a:xfrm>
          <a:prstGeom prst="roundRect">
            <a:avLst>
              <a:gd name="adj" fmla="val 28000"/>
            </a:avLst>
          </a:prstGeom>
          <a:noFill/>
          <a:ln w="2032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482431" y="2706624"/>
            <a:ext cx="201168" cy="201168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94495" y="2523744"/>
            <a:ext cx="2468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3F4F6"/>
                </a:solidFill>
                <a:latin typeface="Segoe UI Semibold"/>
              </a:rPr>
              <a:t>Data Oracle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spc="150">
                <a:solidFill>
                  <a:srgbClr val="8B5CF6"/>
                </a:solidFill>
                <a:latin typeface="Consolas"/>
              </a:rPr>
              <a:t>AI &amp; DATA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54415" y="3218688"/>
            <a:ext cx="30632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4A3B8"/>
                </a:solidFill>
                <a:latin typeface="Segoe UI"/>
              </a:rPr>
              <a:t>Machine learning, data pipelines &amp; predictions.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429103" y="3968496"/>
            <a:ext cx="3566160" cy="1481328"/>
          </a:xfrm>
          <a:prstGeom prst="roundRect">
            <a:avLst>
              <a:gd name="adj" fmla="val 11000"/>
            </a:avLst>
          </a:prstGeom>
          <a:solidFill>
            <a:srgbClr val="111624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2429103" y="3968496"/>
            <a:ext cx="100584" cy="1481328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2703423" y="4261104"/>
            <a:ext cx="457200" cy="457200"/>
          </a:xfrm>
          <a:prstGeom prst="roundRect">
            <a:avLst>
              <a:gd name="adj" fmla="val 28000"/>
            </a:avLst>
          </a:prstGeom>
          <a:noFill/>
          <a:ln w="2032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831439" y="4389120"/>
            <a:ext cx="201168" cy="20116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43503" y="4206240"/>
            <a:ext cx="2468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3F4F6"/>
                </a:solidFill>
                <a:latin typeface="Segoe UI Semibold"/>
              </a:rPr>
              <a:t>Ship-It Maverick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spc="150">
                <a:solidFill>
                  <a:srgbClr val="F59E0B"/>
                </a:solidFill>
                <a:latin typeface="Consolas"/>
              </a:rPr>
              <a:t>FAST PRODUCT BUILDER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03423" y="4901183"/>
            <a:ext cx="30632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4A3B8"/>
                </a:solidFill>
                <a:latin typeface="Segoe UI"/>
              </a:rPr>
              <a:t>MVPs, startups, hackathons &amp; rapid prototypes.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96431" y="3968496"/>
            <a:ext cx="3566160" cy="1481328"/>
          </a:xfrm>
          <a:prstGeom prst="roundRect">
            <a:avLst>
              <a:gd name="adj" fmla="val 11000"/>
            </a:avLst>
          </a:prstGeom>
          <a:solidFill>
            <a:srgbClr val="111624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196431" y="3968496"/>
            <a:ext cx="100584" cy="1481328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470751" y="4261104"/>
            <a:ext cx="457200" cy="457200"/>
          </a:xfrm>
          <a:prstGeom prst="roundRect">
            <a:avLst>
              <a:gd name="adj" fmla="val 28000"/>
            </a:avLst>
          </a:prstGeom>
          <a:noFill/>
          <a:ln w="2032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598767" y="4389120"/>
            <a:ext cx="201168" cy="20116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110831" y="4206240"/>
            <a:ext cx="2468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3F4F6"/>
                </a:solidFill>
                <a:latin typeface="Segoe UI Semibold"/>
              </a:rPr>
              <a:t>Cyber Sentinel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spc="150">
                <a:solidFill>
                  <a:srgbClr val="10B981"/>
                </a:solidFill>
                <a:latin typeface="Consolas"/>
              </a:rPr>
              <a:t>DEVOPS &amp; SECURITY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70751" y="4901183"/>
            <a:ext cx="30632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4A3B8"/>
                </a:solidFill>
                <a:latin typeface="Segoe UI"/>
              </a:rPr>
              <a:t>Servers, cloud infra &amp; secure deployments.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58064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4A3B8"/>
                </a:solidFill>
                <a:latin typeface="Segoe UI"/>
              </a:rPr>
              <a:t>Archetypes were derived by k-Means clustering + PCA over 71,223 Stack Overflow 2024 developer profiles.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zetwork_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11480"/>
            <a:ext cx="362102" cy="36210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93038" y="385145"/>
            <a:ext cx="2926080" cy="5449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39" b="1">
                <a:solidFill>
                  <a:srgbClr val="F3F4F6"/>
                </a:solidFill>
                <a:latin typeface="Segoe UI Semibold"/>
              </a:rPr>
              <a:t>Zetwork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24128"/>
            <a:ext cx="11183112" cy="12801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316736"/>
            <a:ext cx="256032" cy="4572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2104" y="1207007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spc="250">
                <a:solidFill>
                  <a:srgbClr val="3B82F6"/>
                </a:solidFill>
                <a:latin typeface="Consolas"/>
              </a:rPr>
              <a:t>THE ALGORITHM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517904"/>
            <a:ext cx="11247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3F4F6"/>
                </a:solidFill>
                <a:latin typeface="Segoe UI Semibold"/>
              </a:rPr>
              <a:t>A transparent 5-factor compatibility score</a:t>
            </a:r>
          </a:p>
        </p:txBody>
      </p:sp>
      <p:pic>
        <p:nvPicPr>
          <p:cNvPr id="9" name="Picture 8" descr="aiacadem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327648"/>
            <a:ext cx="274320" cy="274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68680" y="6327648"/>
            <a:ext cx="5486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4A3B8"/>
                </a:solidFill>
                <a:latin typeface="Segoe UI"/>
              </a:rPr>
              <a:t>Boldbaatar Bolor</a:t>
            </a:r>
            <a:r>
              <a:rPr sz="900" b="0">
                <a:solidFill>
                  <a:srgbClr val="64748B"/>
                </a:solidFill>
                <a:latin typeface="Segoe UI"/>
              </a:rPr>
              <a:t>   ·  Cohort 2  ·  AI Academy Asia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327648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onsolas"/>
              </a:rPr>
              <a:t>06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404872"/>
            <a:ext cx="2834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3F4F6"/>
                </a:solidFill>
                <a:latin typeface="Segoe UI"/>
              </a:rPr>
              <a:t>Tech-stack overlap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660904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Jaccard similarity of languages &amp; tools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80560" y="2450591"/>
            <a:ext cx="5852160" cy="274320"/>
          </a:xfrm>
          <a:prstGeom prst="roundRect">
            <a:avLst>
              <a:gd name="adj" fmla="val 50000"/>
            </a:avLst>
          </a:prstGeom>
          <a:solidFill>
            <a:srgbClr val="1116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480560" y="2450591"/>
            <a:ext cx="5852160" cy="27432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97312" y="2395728"/>
            <a:ext cx="914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6366F1"/>
                </a:solidFill>
                <a:latin typeface="Consolas"/>
              </a:rPr>
              <a:t>30%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3081527"/>
            <a:ext cx="2834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3F4F6"/>
                </a:solidFill>
                <a:latin typeface="Segoe UI"/>
              </a:rPr>
              <a:t>Archetype fit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337559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Same or complementary archetype pairing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80560" y="3127247"/>
            <a:ext cx="5852160" cy="274320"/>
          </a:xfrm>
          <a:prstGeom prst="roundRect">
            <a:avLst>
              <a:gd name="adj" fmla="val 50000"/>
            </a:avLst>
          </a:prstGeom>
          <a:solidFill>
            <a:srgbClr val="1116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480560" y="3127247"/>
            <a:ext cx="4876800" cy="274320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497312" y="3072384"/>
            <a:ext cx="914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8B5CF6"/>
                </a:solidFill>
                <a:latin typeface="Consolas"/>
              </a:rPr>
              <a:t>25%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3758184"/>
            <a:ext cx="2834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3F4F6"/>
                </a:solidFill>
                <a:latin typeface="Segoe UI"/>
              </a:rPr>
              <a:t>Interests overlap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014215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Jaccard similarity of interest tags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80560" y="3803904"/>
            <a:ext cx="5852160" cy="274320"/>
          </a:xfrm>
          <a:prstGeom prst="roundRect">
            <a:avLst>
              <a:gd name="adj" fmla="val 50000"/>
            </a:avLst>
          </a:prstGeom>
          <a:solidFill>
            <a:srgbClr val="1116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480560" y="3803904"/>
            <a:ext cx="3901440" cy="27432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497312" y="3749039"/>
            <a:ext cx="914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3B82F6"/>
                </a:solidFill>
                <a:latin typeface="Consolas"/>
              </a:rPr>
              <a:t>20%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4434840"/>
            <a:ext cx="2834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3F4F6"/>
                </a:solidFill>
                <a:latin typeface="Segoe UI"/>
              </a:rPr>
              <a:t>Zodiac harmony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4690871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Fire / Earth / Air / Water element matrix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80560" y="4480559"/>
            <a:ext cx="5852160" cy="274320"/>
          </a:xfrm>
          <a:prstGeom prst="roundRect">
            <a:avLst>
              <a:gd name="adj" fmla="val 50000"/>
            </a:avLst>
          </a:prstGeom>
          <a:solidFill>
            <a:srgbClr val="1116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480560" y="4480559"/>
            <a:ext cx="2926080" cy="274320"/>
          </a:xfrm>
          <a:prstGeom prst="roundRect">
            <a:avLst>
              <a:gd name="adj" fmla="val 50000"/>
            </a:avLst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497312" y="4425695"/>
            <a:ext cx="914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EC4899"/>
                </a:solidFill>
                <a:latin typeface="Consolas"/>
              </a:rPr>
              <a:t>15%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5111496"/>
            <a:ext cx="2834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3F4F6"/>
                </a:solidFill>
                <a:latin typeface="Segoe UI"/>
              </a:rPr>
              <a:t>Build-goal similarity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5367527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TF-IDF cosine of project descriptions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80560" y="5157216"/>
            <a:ext cx="5852160" cy="274320"/>
          </a:xfrm>
          <a:prstGeom prst="roundRect">
            <a:avLst>
              <a:gd name="adj" fmla="val 50000"/>
            </a:avLst>
          </a:prstGeom>
          <a:solidFill>
            <a:srgbClr val="1116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480560" y="5157216"/>
            <a:ext cx="1950720" cy="27432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497312" y="5102351"/>
            <a:ext cx="914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Consolas"/>
              </a:rPr>
              <a:t>10%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5806440"/>
            <a:ext cx="11183112" cy="548640"/>
          </a:xfrm>
          <a:prstGeom prst="roundRect">
            <a:avLst>
              <a:gd name="adj" fmla="val 12000"/>
            </a:avLst>
          </a:prstGeom>
          <a:solidFill>
            <a:srgbClr val="0F1420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7240" y="5806440"/>
            <a:ext cx="107899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4A3B8"/>
                </a:solidFill>
                <a:latin typeface="Consolas"/>
              </a:rPr>
              <a:t>score = </a:t>
            </a:r>
            <a:r>
              <a:rPr sz="1200" b="1">
                <a:solidFill>
                  <a:srgbClr val="818CF8"/>
                </a:solidFill>
                <a:latin typeface="Consolas"/>
              </a:rPr>
              <a:t>0.30·tech + 0.25·archetype + 0.20·interests + 0.15·zodiac + 0.10·buildGoal</a:t>
            </a:r>
            <a:r>
              <a:rPr sz="1200" b="0">
                <a:solidFill>
                  <a:srgbClr val="94A3B8"/>
                </a:solidFill>
                <a:latin typeface="Consolas"/>
              </a:rPr>
              <a:t>   →  0–100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zetwork_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11480"/>
            <a:ext cx="362102" cy="36210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93038" y="385145"/>
            <a:ext cx="2926080" cy="5449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39" b="1">
                <a:solidFill>
                  <a:srgbClr val="F3F4F6"/>
                </a:solidFill>
                <a:latin typeface="Segoe UI Semibold"/>
              </a:rPr>
              <a:t>Zetwork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24128"/>
            <a:ext cx="11183112" cy="12801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316736"/>
            <a:ext cx="256032" cy="4572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2104" y="1207007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spc="250">
                <a:solidFill>
                  <a:srgbClr val="8B5CF6"/>
                </a:solidFill>
                <a:latin typeface="Consolas"/>
              </a:rPr>
              <a:t>ML 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517904"/>
            <a:ext cx="11247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3F4F6"/>
                </a:solidFill>
                <a:latin typeface="Segoe UI Semibold"/>
              </a:rPr>
              <a:t>The data-science under the hood</a:t>
            </a:r>
          </a:p>
        </p:txBody>
      </p:sp>
      <p:pic>
        <p:nvPicPr>
          <p:cNvPr id="9" name="Picture 8" descr="aiacadem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327648"/>
            <a:ext cx="274320" cy="274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68680" y="6327648"/>
            <a:ext cx="5486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4A3B8"/>
                </a:solidFill>
                <a:latin typeface="Segoe UI"/>
              </a:rPr>
              <a:t>Boldbaatar Bolor</a:t>
            </a:r>
            <a:r>
              <a:rPr sz="900" b="0">
                <a:solidFill>
                  <a:srgbClr val="64748B"/>
                </a:solidFill>
                <a:latin typeface="Segoe UI"/>
              </a:rPr>
              <a:t>   ·  Cohort 2  ·  AI Academy Asia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327648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onsolas"/>
              </a:rPr>
              <a:t>07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286000"/>
            <a:ext cx="3602736" cy="1481328"/>
          </a:xfrm>
          <a:prstGeom prst="roundRect">
            <a:avLst>
              <a:gd name="adj" fmla="val 11000"/>
            </a:avLst>
          </a:prstGeom>
          <a:solidFill>
            <a:srgbClr val="111624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505456"/>
            <a:ext cx="305409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8B5CF6"/>
                </a:solidFill>
                <a:latin typeface="Segoe UI Semibold"/>
              </a:rPr>
              <a:t>PCA projection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889504"/>
            <a:ext cx="30998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4A3B8"/>
                </a:solidFill>
                <a:latin typeface="Segoe UI"/>
              </a:rPr>
              <a:t>Each profile is reduced to 2 principal components using pre-trained keyword loadings for languages, interests &amp; goal text.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88536" y="2286000"/>
            <a:ext cx="3602736" cy="1481328"/>
          </a:xfrm>
          <a:prstGeom prst="roundRect">
            <a:avLst>
              <a:gd name="adj" fmla="val 11000"/>
            </a:avLst>
          </a:prstGeom>
          <a:solidFill>
            <a:srgbClr val="111624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62855" y="2505456"/>
            <a:ext cx="305409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3B82F6"/>
                </a:solidFill>
                <a:latin typeface="Segoe UI Semibold"/>
              </a:rPr>
              <a:t>k-Means clustering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2855" y="2889504"/>
            <a:ext cx="30998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4A3B8"/>
                </a:solidFill>
                <a:latin typeface="Segoe UI"/>
              </a:rPr>
              <a:t>The 2D point is assigned to its nearest of 5 archetype centroids — mirroring an offline k-Means model.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74152" y="2286000"/>
            <a:ext cx="3602736" cy="1481328"/>
          </a:xfrm>
          <a:prstGeom prst="roundRect">
            <a:avLst>
              <a:gd name="adj" fmla="val 11000"/>
            </a:avLst>
          </a:prstGeom>
          <a:solidFill>
            <a:srgbClr val="111624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48472" y="2505456"/>
            <a:ext cx="305409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6366F1"/>
                </a:solidFill>
                <a:latin typeface="Segoe UI Semibold"/>
              </a:rPr>
              <a:t>Jaccard similarity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48472" y="2889504"/>
            <a:ext cx="30998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4A3B8"/>
                </a:solidFill>
                <a:latin typeface="Segoe UI"/>
              </a:rPr>
              <a:t>Set overlap of languages and interests gives a fast, interpretable tech-fit signal.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968496"/>
            <a:ext cx="3602736" cy="1481328"/>
          </a:xfrm>
          <a:prstGeom prst="roundRect">
            <a:avLst>
              <a:gd name="adj" fmla="val 11000"/>
            </a:avLst>
          </a:prstGeom>
          <a:solidFill>
            <a:srgbClr val="111624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187952"/>
            <a:ext cx="305409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0B981"/>
                </a:solidFill>
                <a:latin typeface="Segoe UI Semibold"/>
              </a:rPr>
              <a:t>TF-IDF cosine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572000"/>
            <a:ext cx="30998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4A3B8"/>
                </a:solidFill>
                <a:latin typeface="Segoe UI"/>
              </a:rPr>
              <a:t>Build-goal free text is vectorised and compared by cosine similarity (scikit-learn on the backend).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88536" y="3968496"/>
            <a:ext cx="3602736" cy="1481328"/>
          </a:xfrm>
          <a:prstGeom prst="roundRect">
            <a:avLst>
              <a:gd name="adj" fmla="val 11000"/>
            </a:avLst>
          </a:prstGeom>
          <a:solidFill>
            <a:srgbClr val="111624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62855" y="4187952"/>
            <a:ext cx="305409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C4899"/>
                </a:solidFill>
                <a:latin typeface="Segoe UI Semibold"/>
              </a:rPr>
              <a:t>Element harmony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62855" y="4572000"/>
            <a:ext cx="30998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4A3B8"/>
                </a:solidFill>
                <a:latin typeface="Segoe UI"/>
              </a:rPr>
              <a:t>A 4×4 Fire/Earth/Air/Water matrix adds a light, fun compatibility layer.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74152" y="3968496"/>
            <a:ext cx="3602736" cy="1481328"/>
          </a:xfrm>
          <a:prstGeom prst="roundRect">
            <a:avLst>
              <a:gd name="adj" fmla="val 11000"/>
            </a:avLst>
          </a:prstGeom>
          <a:solidFill>
            <a:srgbClr val="111624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48472" y="4187952"/>
            <a:ext cx="305409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59E0B"/>
                </a:solidFill>
                <a:latin typeface="Segoe UI Semibold"/>
              </a:rPr>
              <a:t>Weighted blend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48472" y="4572000"/>
            <a:ext cx="30998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4A3B8"/>
                </a:solidFill>
                <a:latin typeface="Segoe UI"/>
              </a:rPr>
              <a:t>All five signals are combined by fixed weights into one explainable 0–100 score.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zetwork_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11480"/>
            <a:ext cx="362102" cy="36210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93038" y="385145"/>
            <a:ext cx="2926080" cy="5449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39" b="1">
                <a:solidFill>
                  <a:srgbClr val="F3F4F6"/>
                </a:solidFill>
                <a:latin typeface="Segoe UI Semibold"/>
              </a:rPr>
              <a:t>Zetwork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24128"/>
            <a:ext cx="11183112" cy="12801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316736"/>
            <a:ext cx="256032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2104" y="1207007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spc="250">
                <a:solidFill>
                  <a:srgbClr val="F59E0B"/>
                </a:solidFill>
                <a:latin typeface="Consolas"/>
              </a:rPr>
              <a:t>THE EXPERIENCE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517904"/>
            <a:ext cx="11247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3F4F6"/>
                </a:solidFill>
                <a:latin typeface="Segoe UI Semibold"/>
              </a:rPr>
              <a:t>Your matches, as a star-field</a:t>
            </a:r>
          </a:p>
        </p:txBody>
      </p:sp>
      <p:pic>
        <p:nvPicPr>
          <p:cNvPr id="9" name="Picture 8" descr="aiacadem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327648"/>
            <a:ext cx="274320" cy="274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68680" y="6327648"/>
            <a:ext cx="5486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4A3B8"/>
                </a:solidFill>
                <a:latin typeface="Segoe UI"/>
              </a:rPr>
              <a:t>Boldbaatar Bolor</a:t>
            </a:r>
            <a:r>
              <a:rPr sz="900" b="0">
                <a:solidFill>
                  <a:srgbClr val="64748B"/>
                </a:solidFill>
                <a:latin typeface="Segoe UI"/>
              </a:rPr>
              <a:t>   ·  Cohort 2  ·  AI Academy Asia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327648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onsolas"/>
              </a:rPr>
              <a:t>08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423160"/>
            <a:ext cx="42976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CBD5E1"/>
                </a:solidFill>
                <a:latin typeface="Segoe UI"/>
              </a:rPr>
              <a:t>The constellation canvas plots every candidate in the same 2D skill-space as you.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438144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337560"/>
            <a:ext cx="4023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3F4F6"/>
                </a:solidFill>
                <a:latin typeface="Segoe UI"/>
              </a:rPr>
              <a:t>Closer = better fit  </a:t>
            </a:r>
            <a:r>
              <a:rPr sz="1100" b="0">
                <a:solidFill>
                  <a:srgbClr val="94A3B8"/>
                </a:solidFill>
                <a:latin typeface="Segoe UI"/>
              </a:rPr>
              <a:t>— distance encodes compatibility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941063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840480"/>
            <a:ext cx="4023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3F4F6"/>
                </a:solidFill>
                <a:latin typeface="Segoe UI"/>
              </a:rPr>
              <a:t>Brighter = stronger  </a:t>
            </a:r>
            <a:r>
              <a:rPr sz="1100" b="0">
                <a:solidFill>
                  <a:srgbClr val="94A3B8"/>
                </a:solidFill>
                <a:latin typeface="Segoe UI"/>
              </a:rPr>
              <a:t>— higher-scoring matches glow more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443984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343400"/>
            <a:ext cx="4023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3F4F6"/>
                </a:solidFill>
                <a:latin typeface="Segoe UI"/>
              </a:rPr>
              <a:t>Colour = archetype  </a:t>
            </a:r>
            <a:r>
              <a:rPr sz="1100" b="0">
                <a:solidFill>
                  <a:srgbClr val="94A3B8"/>
                </a:solidFill>
                <a:latin typeface="Segoe UI"/>
              </a:rPr>
              <a:t>— each of the 5 types has its hue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946904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846320"/>
            <a:ext cx="4023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3F4F6"/>
                </a:solidFill>
                <a:latin typeface="Segoe UI"/>
              </a:rPr>
              <a:t>Click to inspect  </a:t>
            </a:r>
            <a:r>
              <a:rPr sz="1100" b="0">
                <a:solidFill>
                  <a:srgbClr val="94A3B8"/>
                </a:solidFill>
                <a:latin typeface="Segoe UI"/>
              </a:rPr>
              <a:t>— opens the full match breakdown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449824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349240"/>
            <a:ext cx="4023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3F4F6"/>
                </a:solidFill>
                <a:latin typeface="Segoe UI"/>
              </a:rPr>
              <a:t>Live filters  </a:t>
            </a:r>
            <a:r>
              <a:rPr sz="1100" b="0">
                <a:solidFill>
                  <a:srgbClr val="94A3B8"/>
                </a:solidFill>
                <a:latin typeface="Segoe UI"/>
              </a:rPr>
              <a:t>— min-score slider &amp; archetype filter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120640" y="2331720"/>
            <a:ext cx="6565392" cy="3703320"/>
          </a:xfrm>
          <a:prstGeom prst="roundRect">
            <a:avLst>
              <a:gd name="adj" fmla="val 12000"/>
            </a:avLst>
          </a:prstGeom>
          <a:solidFill>
            <a:srgbClr val="080B14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4871" y="2514600"/>
            <a:ext cx="5486" cy="3337560"/>
          </a:xfrm>
          <a:prstGeom prst="rect">
            <a:avLst/>
          </a:prstGeom>
          <a:solidFill>
            <a:srgbClr val="14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09103" y="2514600"/>
            <a:ext cx="5486" cy="3337560"/>
          </a:xfrm>
          <a:prstGeom prst="rect">
            <a:avLst/>
          </a:prstGeom>
          <a:solidFill>
            <a:srgbClr val="14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403336" y="2514600"/>
            <a:ext cx="5486" cy="3337560"/>
          </a:xfrm>
          <a:prstGeom prst="rect">
            <a:avLst/>
          </a:prstGeom>
          <a:solidFill>
            <a:srgbClr val="14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97568" y="2514600"/>
            <a:ext cx="5486" cy="3337560"/>
          </a:xfrm>
          <a:prstGeom prst="rect">
            <a:avLst/>
          </a:prstGeom>
          <a:solidFill>
            <a:srgbClr val="14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591799" y="2514600"/>
            <a:ext cx="5486" cy="3337560"/>
          </a:xfrm>
          <a:prstGeom prst="rect">
            <a:avLst/>
          </a:prstGeom>
          <a:solidFill>
            <a:srgbClr val="14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303520" y="3257550"/>
            <a:ext cx="6199631" cy="5486"/>
          </a:xfrm>
          <a:prstGeom prst="rect">
            <a:avLst/>
          </a:prstGeom>
          <a:solidFill>
            <a:srgbClr val="14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303520" y="4183379"/>
            <a:ext cx="6199631" cy="5486"/>
          </a:xfrm>
          <a:prstGeom prst="rect">
            <a:avLst/>
          </a:prstGeom>
          <a:solidFill>
            <a:srgbClr val="14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303520" y="5109209"/>
            <a:ext cx="6199631" cy="5486"/>
          </a:xfrm>
          <a:prstGeom prst="rect">
            <a:avLst/>
          </a:prstGeom>
          <a:solidFill>
            <a:srgbClr val="14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 flipH="1">
            <a:off x="7998571" y="4183379"/>
            <a:ext cx="404765" cy="437288"/>
          </a:xfrm>
          <a:prstGeom prst="bentConnector3">
            <a:avLst/>
          </a:prstGeom>
          <a:ln w="9525">
            <a:solidFill>
              <a:srgbClr val="1E29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 flipV="1">
            <a:off x="6990762" y="4010081"/>
            <a:ext cx="1412574" cy="173298"/>
          </a:xfrm>
          <a:prstGeom prst="bentConnector3">
            <a:avLst/>
          </a:prstGeom>
          <a:ln w="9525">
            <a:solidFill>
              <a:srgbClr val="1E29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8403336" y="4183379"/>
            <a:ext cx="163882" cy="390537"/>
          </a:xfrm>
          <a:prstGeom prst="bentConnector3">
            <a:avLst/>
          </a:prstGeom>
          <a:ln w="9525">
            <a:solidFill>
              <a:srgbClr val="1E29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8403336" y="4183379"/>
            <a:ext cx="1344926" cy="464431"/>
          </a:xfrm>
          <a:prstGeom prst="bentConnector3">
            <a:avLst/>
          </a:prstGeom>
          <a:ln w="9525">
            <a:solidFill>
              <a:srgbClr val="1E29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403336" y="4183379"/>
            <a:ext cx="354470" cy="1120994"/>
          </a:xfrm>
          <a:prstGeom prst="bentConnector3">
            <a:avLst/>
          </a:prstGeom>
          <a:ln w="9525">
            <a:solidFill>
              <a:srgbClr val="1E29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6024160" y="4183379"/>
            <a:ext cx="2379176" cy="975993"/>
          </a:xfrm>
          <a:prstGeom prst="bentConnector3">
            <a:avLst/>
          </a:prstGeom>
          <a:ln w="9525">
            <a:solidFill>
              <a:srgbClr val="1E29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403336" y="4183379"/>
            <a:ext cx="1061291" cy="633653"/>
          </a:xfrm>
          <a:prstGeom prst="bentConnector3">
            <a:avLst/>
          </a:prstGeom>
          <a:ln w="9525">
            <a:solidFill>
              <a:srgbClr val="1E29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>
            <a:off x="7476904" y="4183379"/>
            <a:ext cx="926432" cy="1301350"/>
          </a:xfrm>
          <a:prstGeom prst="bentConnector3">
            <a:avLst/>
          </a:prstGeom>
          <a:ln w="9525">
            <a:solidFill>
              <a:srgbClr val="1E29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 flipV="1">
            <a:off x="7501044" y="3951048"/>
            <a:ext cx="902292" cy="232331"/>
          </a:xfrm>
          <a:prstGeom prst="bentConnector3">
            <a:avLst/>
          </a:prstGeom>
          <a:ln w="9525">
            <a:solidFill>
              <a:srgbClr val="1E29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7953780" y="4575876"/>
            <a:ext cx="89581" cy="89581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903863" y="3923182"/>
            <a:ext cx="173797" cy="173797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8522557" y="4529255"/>
            <a:ext cx="89322" cy="89322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9700888" y="4600436"/>
            <a:ext cx="94748" cy="94748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8687634" y="5234201"/>
            <a:ext cx="140343" cy="140343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955016" y="5090229"/>
            <a:ext cx="138287" cy="138287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9417555" y="4769960"/>
            <a:ext cx="94144" cy="94144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7430573" y="5438398"/>
            <a:ext cx="92661" cy="92661"/>
          </a:xfrm>
          <a:prstGeom prst="roundRect">
            <a:avLst>
              <a:gd name="adj" fmla="val 50000"/>
            </a:avLst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7432349" y="3882353"/>
            <a:ext cx="137390" cy="13739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8961528" y="4257320"/>
            <a:ext cx="132227" cy="132227"/>
          </a:xfrm>
          <a:prstGeom prst="roundRect">
            <a:avLst>
              <a:gd name="adj" fmla="val 50000"/>
            </a:avLst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5893839" y="3849511"/>
            <a:ext cx="141194" cy="141194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7100334" y="4308470"/>
            <a:ext cx="152603" cy="152603"/>
          </a:xfrm>
          <a:prstGeom prst="roundRect">
            <a:avLst>
              <a:gd name="adj" fmla="val 50000"/>
            </a:avLst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8412081" y="5181608"/>
            <a:ext cx="132096" cy="132096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7395356" y="4837800"/>
            <a:ext cx="180885" cy="180885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9520523" y="4710247"/>
            <a:ext cx="97583" cy="97583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7700576" y="4127641"/>
            <a:ext cx="159199" cy="159199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5890524" y="3474406"/>
            <a:ext cx="116506" cy="116506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7312899" y="4914822"/>
            <a:ext cx="89212" cy="89212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9363599" y="4500033"/>
            <a:ext cx="88398" cy="88398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7695395" y="3018382"/>
            <a:ext cx="110921" cy="110921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6649200" y="4880679"/>
            <a:ext cx="176910" cy="17691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7089073" y="5018830"/>
            <a:ext cx="88225" cy="88225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8437520" y="3665657"/>
            <a:ext cx="122318" cy="122318"/>
          </a:xfrm>
          <a:prstGeom prst="roundRect">
            <a:avLst>
              <a:gd name="adj" fmla="val 50000"/>
            </a:avLst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9878349" y="3638485"/>
            <a:ext cx="127477" cy="127477"/>
          </a:xfrm>
          <a:prstGeom prst="roundRect">
            <a:avLst>
              <a:gd name="adj" fmla="val 50000"/>
            </a:avLst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5693921" y="3647210"/>
            <a:ext cx="169199" cy="169199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8049661" y="4943064"/>
            <a:ext cx="150967" cy="150967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8257031" y="4037075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F3F4F6"/>
          </a:solidFill>
          <a:ln w="25400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763256" y="4347971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spc="200">
                <a:solidFill>
                  <a:srgbClr val="F3F4F6"/>
                </a:solidFill>
                <a:latin typeface="Consolas"/>
              </a:rPr>
              <a:t>YOU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349240" y="24963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spc="150">
                <a:solidFill>
                  <a:srgbClr val="64748B"/>
                </a:solidFill>
                <a:latin typeface="Consolas"/>
              </a:rPr>
              <a:t>compatibility map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zetwork_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11480"/>
            <a:ext cx="362102" cy="36210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93038" y="385145"/>
            <a:ext cx="2926080" cy="5449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39" b="1">
                <a:solidFill>
                  <a:srgbClr val="F3F4F6"/>
                </a:solidFill>
                <a:latin typeface="Segoe UI Semibold"/>
              </a:rPr>
              <a:t>Zetwork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24128"/>
            <a:ext cx="11183112" cy="12801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316736"/>
            <a:ext cx="256032" cy="4572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2104" y="1207007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spc="250">
                <a:solidFill>
                  <a:srgbClr val="3B82F6"/>
                </a:solidFill>
                <a:latin typeface="Consolas"/>
              </a:rPr>
              <a:t>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517904"/>
            <a:ext cx="11247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3F4F6"/>
                </a:solidFill>
                <a:latin typeface="Segoe UI Semibold"/>
              </a:rPr>
              <a:t>Architecture &amp; tech stack</a:t>
            </a:r>
          </a:p>
        </p:txBody>
      </p:sp>
      <p:pic>
        <p:nvPicPr>
          <p:cNvPr id="9" name="Picture 8" descr="aiacadem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327648"/>
            <a:ext cx="274320" cy="274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68680" y="6327648"/>
            <a:ext cx="5486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4A3B8"/>
                </a:solidFill>
                <a:latin typeface="Segoe UI"/>
              </a:rPr>
              <a:t>Boldbaatar Bolor</a:t>
            </a:r>
            <a:r>
              <a:rPr sz="900" b="0">
                <a:solidFill>
                  <a:srgbClr val="64748B"/>
                </a:solidFill>
                <a:latin typeface="Segoe UI"/>
              </a:rPr>
              <a:t>   ·  Cohort 2  ·  AI Academy Asia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327648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onsolas"/>
              </a:rPr>
              <a:t>09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286000"/>
            <a:ext cx="3602736" cy="3429000"/>
          </a:xfrm>
          <a:prstGeom prst="roundRect">
            <a:avLst>
              <a:gd name="adj" fmla="val 12000"/>
            </a:avLst>
          </a:prstGeom>
          <a:solidFill>
            <a:srgbClr val="111624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02920" y="2286000"/>
            <a:ext cx="3602736" cy="585216"/>
          </a:xfrm>
          <a:prstGeom prst="roundRect">
            <a:avLst>
              <a:gd name="adj" fmla="val 12000"/>
            </a:avLst>
          </a:prstGeom>
          <a:solidFill>
            <a:srgbClr val="0F14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5528" y="2487168"/>
            <a:ext cx="146304" cy="18288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2395728"/>
            <a:ext cx="296265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3F4F6"/>
                </a:solidFill>
                <a:latin typeface="Segoe UI Semibold"/>
              </a:rPr>
              <a:t>Frontend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" y="306324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6366F1"/>
                </a:solidFill>
                <a:latin typeface="Consolas"/>
              </a:rPr>
              <a:t>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3063240"/>
            <a:ext cx="277977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CBD5E1"/>
                </a:solidFill>
                <a:latin typeface="Segoe UI"/>
              </a:rPr>
              <a:t>React 19 + TypeScript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" y="3493008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6366F1"/>
                </a:solidFill>
                <a:latin typeface="Consolas"/>
              </a:rPr>
              <a:t>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3493008"/>
            <a:ext cx="277977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CBD5E1"/>
                </a:solidFill>
                <a:latin typeface="Segoe UI"/>
              </a:rPr>
              <a:t>Vite 6 build tooling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" y="3922776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6366F1"/>
                </a:solidFill>
                <a:latin typeface="Consolas"/>
              </a:rPr>
              <a:t>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" y="3922776"/>
            <a:ext cx="277977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CBD5E1"/>
                </a:solidFill>
                <a:latin typeface="Segoe UI"/>
              </a:rPr>
              <a:t>Tailwind CSS v4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" y="4352544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6366F1"/>
                </a:solidFill>
                <a:latin typeface="Consolas"/>
              </a:rPr>
              <a:t>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4352544"/>
            <a:ext cx="277977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CBD5E1"/>
                </a:solidFill>
                <a:latin typeface="Segoe UI"/>
              </a:rPr>
              <a:t>Motion (animations)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816" y="4782312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6366F1"/>
                </a:solidFill>
                <a:latin typeface="Consolas"/>
              </a:rPr>
              <a:t>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" y="4782312"/>
            <a:ext cx="277977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CBD5E1"/>
                </a:solidFill>
                <a:latin typeface="Segoe UI"/>
              </a:rPr>
              <a:t>lucide-react icons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3816" y="5212079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6366F1"/>
                </a:solidFill>
                <a:latin typeface="Consolas"/>
              </a:rPr>
              <a:t>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" y="5212079"/>
            <a:ext cx="277977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CBD5E1"/>
                </a:solidFill>
                <a:latin typeface="Segoe UI"/>
              </a:rPr>
              <a:t>Canvas constellation UI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88536" y="2286000"/>
            <a:ext cx="3602736" cy="3429000"/>
          </a:xfrm>
          <a:prstGeom prst="roundRect">
            <a:avLst>
              <a:gd name="adj" fmla="val 12000"/>
            </a:avLst>
          </a:prstGeom>
          <a:solidFill>
            <a:srgbClr val="111624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288536" y="2286000"/>
            <a:ext cx="3602736" cy="585216"/>
          </a:xfrm>
          <a:prstGeom prst="roundRect">
            <a:avLst>
              <a:gd name="adj" fmla="val 12000"/>
            </a:avLst>
          </a:prstGeom>
          <a:solidFill>
            <a:srgbClr val="0F14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81144" y="2487168"/>
            <a:ext cx="146304" cy="1828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37175" y="2395728"/>
            <a:ext cx="296265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3F4F6"/>
                </a:solidFill>
                <a:latin typeface="Segoe UI Semibold"/>
              </a:rPr>
              <a:t>Backend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99431" y="306324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Consolas"/>
              </a:rPr>
              <a:t>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55464" y="3063240"/>
            <a:ext cx="277977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CBD5E1"/>
                </a:solidFill>
                <a:latin typeface="Segoe UI"/>
              </a:rPr>
              <a:t>FastAPI (Python)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99431" y="3493008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Consolas"/>
              </a:rPr>
              <a:t>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55464" y="3493008"/>
            <a:ext cx="277977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CBD5E1"/>
                </a:solidFill>
                <a:latin typeface="Segoe UI"/>
              </a:rPr>
              <a:t>SQLAlchemy ORM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99431" y="3922776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Consolas"/>
              </a:rPr>
              <a:t>›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55464" y="3922776"/>
            <a:ext cx="277977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CBD5E1"/>
                </a:solidFill>
                <a:latin typeface="Segoe UI"/>
              </a:rPr>
              <a:t>PostgreSQL / SQLite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99431" y="4352544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Consolas"/>
              </a:rPr>
              <a:t>›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55464" y="4352544"/>
            <a:ext cx="277977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CBD5E1"/>
                </a:solidFill>
                <a:latin typeface="Segoe UI"/>
              </a:rPr>
              <a:t>JWT + bcrypt auth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99431" y="4782312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Consolas"/>
              </a:rPr>
              <a:t>›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55464" y="4782312"/>
            <a:ext cx="277977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CBD5E1"/>
                </a:solidFill>
                <a:latin typeface="Segoe UI"/>
              </a:rPr>
              <a:t>scikit-learn (TF-IDF)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99431" y="5212079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Consolas"/>
              </a:rPr>
              <a:t>›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55464" y="5212079"/>
            <a:ext cx="277977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CBD5E1"/>
                </a:solidFill>
                <a:latin typeface="Segoe UI"/>
              </a:rPr>
              <a:t>Express/tsx dev server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074152" y="2286000"/>
            <a:ext cx="3602736" cy="3429000"/>
          </a:xfrm>
          <a:prstGeom prst="roundRect">
            <a:avLst>
              <a:gd name="adj" fmla="val 12000"/>
            </a:avLst>
          </a:prstGeom>
          <a:solidFill>
            <a:srgbClr val="111624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8074152" y="2286000"/>
            <a:ext cx="3602736" cy="585216"/>
          </a:xfrm>
          <a:prstGeom prst="roundRect">
            <a:avLst>
              <a:gd name="adj" fmla="val 12000"/>
            </a:avLst>
          </a:prstGeom>
          <a:solidFill>
            <a:srgbClr val="0F14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366760" y="2487168"/>
            <a:ext cx="146304" cy="18288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622792" y="2395728"/>
            <a:ext cx="296265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3F4F6"/>
                </a:solidFill>
                <a:latin typeface="Segoe UI Semibold"/>
              </a:rPr>
              <a:t>ML &amp; Data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85048" y="306324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B5CF6"/>
                </a:solidFill>
                <a:latin typeface="Consolas"/>
              </a:rPr>
              <a:t>›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41080" y="3063240"/>
            <a:ext cx="277977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CBD5E1"/>
                </a:solidFill>
                <a:latin typeface="Segoe UI"/>
              </a:rPr>
              <a:t>k-Means + PCA archetypes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85048" y="3493008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B5CF6"/>
                </a:solidFill>
                <a:latin typeface="Consolas"/>
              </a:rPr>
              <a:t>›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41080" y="3493008"/>
            <a:ext cx="277977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CBD5E1"/>
                </a:solidFill>
                <a:latin typeface="Segoe UI"/>
              </a:rPr>
              <a:t>71,223 SO 2024 devs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85048" y="3922776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B5CF6"/>
                </a:solidFill>
                <a:latin typeface="Consolas"/>
              </a:rPr>
              <a:t>›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41080" y="3922776"/>
            <a:ext cx="277977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CBD5E1"/>
                </a:solidFill>
                <a:latin typeface="Segoe UI"/>
              </a:rPr>
              <a:t>Offline model artifacts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85048" y="4352544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B5CF6"/>
                </a:solidFill>
                <a:latin typeface="Consolas"/>
              </a:rPr>
              <a:t>›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41080" y="4352544"/>
            <a:ext cx="277977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CBD5E1"/>
                </a:solidFill>
                <a:latin typeface="Segoe UI"/>
              </a:rPr>
              <a:t>Jaccard + cosine scoring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85048" y="4782312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B5CF6"/>
                </a:solidFill>
                <a:latin typeface="Consolas"/>
              </a:rPr>
              <a:t>›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641080" y="4782312"/>
            <a:ext cx="277977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CBD5E1"/>
                </a:solidFill>
                <a:latin typeface="Segoe UI"/>
              </a:rPr>
              <a:t>5-factor weighted blend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85048" y="5212079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B5CF6"/>
                </a:solidFill>
                <a:latin typeface="Consolas"/>
              </a:rPr>
              <a:t>›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41080" y="5212079"/>
            <a:ext cx="277977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CBD5E1"/>
                </a:solidFill>
                <a:latin typeface="Segoe UI"/>
              </a:rPr>
              <a:t>Deploy-ready (AWS RDS)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zetwork_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11480"/>
            <a:ext cx="362102" cy="36210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93038" y="385145"/>
            <a:ext cx="2926080" cy="5449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39" b="1">
                <a:solidFill>
                  <a:srgbClr val="F3F4F6"/>
                </a:solidFill>
                <a:latin typeface="Segoe UI Semibold"/>
              </a:rPr>
              <a:t>Zetwork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24128"/>
            <a:ext cx="11183112" cy="12801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316736"/>
            <a:ext cx="256032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2104" y="1207007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spc="250">
                <a:solidFill>
                  <a:srgbClr val="10B981"/>
                </a:solidFill>
                <a:latin typeface="Consolas"/>
              </a:rPr>
              <a:t>PRODUCT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517904"/>
            <a:ext cx="11247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3F4F6"/>
                </a:solidFill>
                <a:latin typeface="Segoe UI Semibold"/>
              </a:rPr>
              <a:t>What's built</a:t>
            </a:r>
          </a:p>
        </p:txBody>
      </p:sp>
      <p:pic>
        <p:nvPicPr>
          <p:cNvPr id="9" name="Picture 8" descr="aiacadem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327648"/>
            <a:ext cx="274320" cy="274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68680" y="6327648"/>
            <a:ext cx="5486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4A3B8"/>
                </a:solidFill>
                <a:latin typeface="Segoe UI"/>
              </a:rPr>
              <a:t>Boldbaatar Bolor</a:t>
            </a:r>
            <a:r>
              <a:rPr sz="900" b="0">
                <a:solidFill>
                  <a:srgbClr val="64748B"/>
                </a:solidFill>
                <a:latin typeface="Segoe UI"/>
              </a:rPr>
              <a:t>   ·  Cohort 2  ·  AI Academy Asia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327648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onsolas"/>
              </a:rPr>
              <a:t>10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286000"/>
            <a:ext cx="3602736" cy="1481328"/>
          </a:xfrm>
          <a:prstGeom prst="roundRect">
            <a:avLst>
              <a:gd name="adj" fmla="val 11000"/>
            </a:avLst>
          </a:prstGeom>
          <a:solidFill>
            <a:srgbClr val="111624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542032"/>
            <a:ext cx="36576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670048"/>
            <a:ext cx="305409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3F4F6"/>
                </a:solidFill>
                <a:latin typeface="Segoe UI Semibold"/>
              </a:rPr>
              <a:t>Auth &amp; sessions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054096"/>
            <a:ext cx="30998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4A3B8"/>
                </a:solidFill>
                <a:latin typeface="Segoe UI"/>
              </a:rPr>
              <a:t>Register / login with JWT tokens, bcrypt-hashed passwords, persisted client session.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88536" y="2286000"/>
            <a:ext cx="3602736" cy="1481328"/>
          </a:xfrm>
          <a:prstGeom prst="roundRect">
            <a:avLst>
              <a:gd name="adj" fmla="val 11000"/>
            </a:avLst>
          </a:prstGeom>
          <a:solidFill>
            <a:srgbClr val="111624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62855" y="2542032"/>
            <a:ext cx="36576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62855" y="2670048"/>
            <a:ext cx="305409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3F4F6"/>
                </a:solidFill>
                <a:latin typeface="Segoe UI Semibold"/>
              </a:rPr>
              <a:t>Profile builder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62855" y="3054096"/>
            <a:ext cx="30998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4A3B8"/>
                </a:solidFill>
                <a:latin typeface="Segoe UI"/>
              </a:rPr>
              <a:t>Languages, interests, build-goal and zodiac — instantly classified into an archetype.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74152" y="2286000"/>
            <a:ext cx="3602736" cy="1481328"/>
          </a:xfrm>
          <a:prstGeom prst="roundRect">
            <a:avLst>
              <a:gd name="adj" fmla="val 11000"/>
            </a:avLst>
          </a:prstGeom>
          <a:solidFill>
            <a:srgbClr val="111624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348472" y="2542032"/>
            <a:ext cx="36576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48472" y="2670048"/>
            <a:ext cx="305409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3F4F6"/>
                </a:solidFill>
                <a:latin typeface="Segoe UI Semibold"/>
              </a:rPr>
              <a:t>Live matching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48472" y="3054096"/>
            <a:ext cx="30998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4A3B8"/>
                </a:solidFill>
                <a:latin typeface="Segoe UI"/>
              </a:rPr>
              <a:t>Server-side ranking of the whole network with per-factor score breakdowns.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3968496"/>
            <a:ext cx="3602736" cy="1481328"/>
          </a:xfrm>
          <a:prstGeom prst="roundRect">
            <a:avLst>
              <a:gd name="adj" fmla="val 11000"/>
            </a:avLst>
          </a:prstGeom>
          <a:solidFill>
            <a:srgbClr val="111624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77240" y="4224528"/>
            <a:ext cx="36576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4352544"/>
            <a:ext cx="305409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3F4F6"/>
                </a:solidFill>
                <a:latin typeface="Segoe UI Semibold"/>
              </a:rPr>
              <a:t>Constellation view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736592"/>
            <a:ext cx="30998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4A3B8"/>
                </a:solidFill>
                <a:latin typeface="Segoe UI"/>
              </a:rPr>
              <a:t>Interactive 2D map with score slider, archetype filter and click-to-inspect.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88536" y="3968496"/>
            <a:ext cx="3602736" cy="1481328"/>
          </a:xfrm>
          <a:prstGeom prst="roundRect">
            <a:avLst>
              <a:gd name="adj" fmla="val 11000"/>
            </a:avLst>
          </a:prstGeom>
          <a:solidFill>
            <a:srgbClr val="111624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62855" y="4224528"/>
            <a:ext cx="36576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62855" y="4352544"/>
            <a:ext cx="305409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3F4F6"/>
                </a:solidFill>
                <a:latin typeface="Segoe UI Semibold"/>
              </a:rPr>
              <a:t>Connections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62855" y="4736592"/>
            <a:ext cx="30998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4A3B8"/>
                </a:solidFill>
                <a:latin typeface="Segoe UI"/>
              </a:rPr>
              <a:t>Send / accept / decline requests with pending-in &amp; pending-out states.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74152" y="3968496"/>
            <a:ext cx="3602736" cy="1481328"/>
          </a:xfrm>
          <a:prstGeom prst="roundRect">
            <a:avLst>
              <a:gd name="adj" fmla="val 11000"/>
            </a:avLst>
          </a:prstGeom>
          <a:solidFill>
            <a:srgbClr val="111624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348472" y="4224528"/>
            <a:ext cx="36576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48472" y="4352544"/>
            <a:ext cx="305409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3F4F6"/>
                </a:solidFill>
                <a:latin typeface="Segoe UI Semibold"/>
              </a:rPr>
              <a:t>Messaging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48472" y="4736592"/>
            <a:ext cx="30998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4A3B8"/>
                </a:solidFill>
                <a:latin typeface="Segoe UI"/>
              </a:rPr>
              <a:t>1:1 chat hub with your accepted connections and last-message previews.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-1371600" y="-1828800"/>
            <a:ext cx="6400800" cy="6400800"/>
          </a:xfrm>
          <a:prstGeom prst="roundRect">
            <a:avLst>
              <a:gd name="adj" fmla="val 50000"/>
            </a:avLst>
          </a:prstGeom>
          <a:solidFill>
            <a:srgbClr val="13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0" y="3291840"/>
            <a:ext cx="5943600" cy="5943600"/>
          </a:xfrm>
          <a:prstGeom prst="roundRect">
            <a:avLst>
              <a:gd name="adj" fmla="val 50000"/>
            </a:avLst>
          </a:prstGeom>
          <a:solidFill>
            <a:srgbClr val="141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zetwork_badge_l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1808" y="1234440"/>
            <a:ext cx="1554480" cy="1554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0" y="2971800"/>
            <a:ext cx="121916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200" b="1">
                <a:solidFill>
                  <a:srgbClr val="F3F4F6"/>
                </a:solidFill>
                <a:latin typeface="Segoe UI Semibold"/>
              </a:rPr>
              <a:t>Thank you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977639"/>
            <a:ext cx="121916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spc="300">
                <a:solidFill>
                  <a:srgbClr val="818CF8"/>
                </a:solidFill>
                <a:latin typeface="Consolas"/>
              </a:rPr>
              <a:t>ZETWORK  ·  POWERING TECH TEAM MATCHING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4526280"/>
            <a:ext cx="121916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CBD5E1"/>
                </a:solidFill>
                <a:latin typeface="Segoe UI"/>
              </a:rPr>
              <a:t>Matching developers by skill, mindset &amp; vibe.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80560" y="5349240"/>
            <a:ext cx="3200400" cy="1828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headshot_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0520" y="5532120"/>
            <a:ext cx="749808" cy="7498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9200" y="5532120"/>
            <a:ext cx="310896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3F4F6"/>
                </a:solidFill>
                <a:latin typeface="Segoe UI Semibold"/>
              </a:rPr>
              <a:t>Boldbaatar Bolor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94A3B8"/>
                </a:solidFill>
                <a:latin typeface="Segoe UI"/>
              </a:rPr>
              <a:t>Cohort 2  ·  AI Academy Asia</a:t>
            </a:r>
          </a:p>
        </p:txBody>
      </p:sp>
      <p:pic>
        <p:nvPicPr>
          <p:cNvPr id="12" name="Picture 11" descr="aiacadem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0920" y="5532120"/>
            <a:ext cx="749808" cy="74980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