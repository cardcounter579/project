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828800"/>
            <a:ext cx="6400800" cy="640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182C"/>
              </a:gs>
              <a:gs pos="100000">
                <a:srgbClr val="0B0F19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79" y="310896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5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twork_badge_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040" y="1371600"/>
            <a:ext cx="7315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72491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spc="300">
                <a:solidFill>
                  <a:srgbClr val="818CF8"/>
                </a:solidFill>
                <a:latin typeface="Consolas"/>
              </a:rPr>
              <a:t>BUILD WITH THE RIGHT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A developer team-matching platform that pairs engineers by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skills, mindset &amp; vibe — using offline ML archetypes and a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5-factor compatibility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257800"/>
            <a:ext cx="475488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40680"/>
            <a:ext cx="86868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5468112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3F4F6"/>
                </a:solidFill>
                <a:latin typeface="Segoe UI Semibold"/>
              </a:rPr>
              <a:t>Boldbaatar Bolor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Capstone Project  ·  Cohort 2</a:t>
            </a:r>
          </a:p>
        </p:txBody>
      </p:sp>
      <p:pic>
        <p:nvPicPr>
          <p:cNvPr id="12" name="Picture 11" descr="aiacade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5486400"/>
            <a:ext cx="713232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5504688"/>
            <a:ext cx="2148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Presented at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6"/>
                </a:solidFill>
                <a:latin typeface="Segoe UI Semibold"/>
              </a:rPr>
              <a:t>AI Academy Asia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818CF8"/>
                </a:solidFill>
                <a:latin typeface="Consola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Finding the right people to build with is broken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2670048" cy="3246120"/>
          </a:xfrm>
          <a:prstGeom prst="roundRect">
            <a:avLst>
              <a:gd name="adj" fmla="val 10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2670048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697480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06324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3F4F6"/>
                </a:solidFill>
                <a:latin typeface="Segoe UI Semibold"/>
              </a:rPr>
              <a:t>Networking is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977639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Job boards and LinkedIn optimise for hiring, not for finding a compatible person to actually build with.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2331720"/>
            <a:ext cx="2670048" cy="3246120"/>
          </a:xfrm>
          <a:prstGeom prst="roundRect">
            <a:avLst>
              <a:gd name="adj" fmla="val 10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46704" y="2331720"/>
            <a:ext cx="2670048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697480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306324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3F4F6"/>
                </a:solidFill>
                <a:latin typeface="Segoe UI Semibold"/>
              </a:rPr>
              <a:t>Skills ≠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977639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Two great engineers can still clash. Stack overlap, working style and goals all matter — but nothing measures them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2331720"/>
            <a:ext cx="2670048" cy="3246120"/>
          </a:xfrm>
          <a:prstGeom prst="roundRect">
            <a:avLst>
              <a:gd name="adj" fmla="val 10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0488" y="2331720"/>
            <a:ext cx="2670048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80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6324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3F4F6"/>
                </a:solidFill>
                <a:latin typeface="Segoe UI Semibold"/>
              </a:rPr>
              <a:t>Discovery is flat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77639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Endless lists and filters. There is no intuitive way to *see* who sits closest to you in skill-space.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272" y="2331720"/>
            <a:ext cx="2670048" cy="3246120"/>
          </a:xfrm>
          <a:prstGeom prst="roundRect">
            <a:avLst>
              <a:gd name="adj" fmla="val 10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34272" y="2331720"/>
            <a:ext cx="2670048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2697480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063240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3F4F6"/>
                </a:solidFill>
                <a:latin typeface="Segoe UI Semibold"/>
              </a:rPr>
              <a:t>Cold &amp; impersonal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977639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Reaching out feels transactional. There's no shared language for “why” two developers would click.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424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Zetwork turns “who should I build with?” into a measurable, visual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818CF8"/>
                </a:solidFill>
                <a:latin typeface="Consolas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A team-matching engine for developers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CBD5E1"/>
                </a:solidFill>
                <a:latin typeface="Segoe UI"/>
              </a:rPr>
              <a:t>Zetwork profiles each developer by their </a:t>
            </a:r>
            <a:r>
              <a:rPr sz="1450" b="1">
                <a:solidFill>
                  <a:srgbClr val="F3F4F6"/>
                </a:solidFill>
                <a:latin typeface="Segoe UI"/>
              </a:rPr>
              <a:t>languages, interests, current project</a:t>
            </a:r>
            <a:r>
              <a:rPr sz="1450" b="0">
                <a:solidFill>
                  <a:srgbClr val="CBD5E1"/>
                </a:solidFill>
                <a:latin typeface="Segoe UI"/>
              </a:rPr>
              <a:t> and even a zodiac sign — then places them in a shared </a:t>
            </a:r>
            <a:r>
              <a:rPr sz="1450" b="1">
                <a:solidFill>
                  <a:srgbClr val="818CF8"/>
                </a:solidFill>
                <a:latin typeface="Segoe UI"/>
              </a:rPr>
              <a:t>skill-space</a:t>
            </a:r>
            <a:r>
              <a:rPr sz="1450" b="0">
                <a:solidFill>
                  <a:srgbClr val="CBD5E1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CBD5E1"/>
                </a:solidFill>
                <a:latin typeface="Segoe UI"/>
              </a:rPr>
              <a:t>An offline ML model assigns one of five </a:t>
            </a:r>
            <a:r>
              <a:rPr sz="1450" b="1">
                <a:solidFill>
                  <a:srgbClr val="F3F4F6"/>
                </a:solidFill>
                <a:latin typeface="Segoe UI"/>
              </a:rPr>
              <a:t>developer archetypes</a:t>
            </a:r>
            <a:r>
              <a:rPr sz="1450" b="0">
                <a:solidFill>
                  <a:srgbClr val="CBD5E1"/>
                </a:solidFill>
                <a:latin typeface="Segoe UI"/>
              </a:rPr>
              <a:t>, and a transparent 5-factor score explains </a:t>
            </a:r>
            <a:r>
              <a:rPr sz="1450" b="1">
                <a:solidFill>
                  <a:srgbClr val="818CF8"/>
                </a:solidFill>
                <a:latin typeface="Segoe UI"/>
              </a:rPr>
              <a:t>exactly why</a:t>
            </a:r>
            <a:r>
              <a:rPr sz="1450" b="0">
                <a:solidFill>
                  <a:srgbClr val="CBD5E1"/>
                </a:solidFill>
                <a:latin typeface="Segoe UI"/>
              </a:rPr>
              <a:t> two people match — then lets them connect and chat.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92040"/>
            <a:ext cx="1572768" cy="960120"/>
          </a:xfrm>
          <a:prstGeom prst="roundRect">
            <a:avLst>
              <a:gd name="adj" fmla="val 14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818CF8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86400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developer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archetypes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892040"/>
            <a:ext cx="1572768" cy="960120"/>
          </a:xfrm>
          <a:prstGeom prst="roundRect">
            <a:avLst>
              <a:gd name="adj" fmla="val 14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5029200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818CF8"/>
                </a:solidFill>
                <a:latin typeface="Segoe UI Semibold"/>
              </a:rPr>
              <a:t>71,223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486400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Stack Overflow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devs modelled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4892040"/>
            <a:ext cx="1572768" cy="960120"/>
          </a:xfrm>
          <a:prstGeom prst="roundRect">
            <a:avLst>
              <a:gd name="adj" fmla="val 14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5029200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818CF8"/>
                </a:solidFill>
                <a:latin typeface="Segoe UI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5486400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match factors,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fully weighted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331720"/>
            <a:ext cx="5559552" cy="3566160"/>
          </a:xfrm>
          <a:prstGeom prst="roundRect">
            <a:avLst>
              <a:gd name="adj" fmla="val 10000"/>
            </a:avLst>
          </a:prstGeom>
          <a:solidFill>
            <a:srgbClr val="0F14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spc="150">
                <a:solidFill>
                  <a:srgbClr val="818CF8"/>
                </a:solidFill>
                <a:latin typeface="Consolas"/>
              </a:rPr>
              <a:t>What a user 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1089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008376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F4F6"/>
                </a:solidFill>
                <a:latin typeface="Segoe UI"/>
              </a:rPr>
              <a:t>Instant archetype  </a:t>
            </a:r>
            <a:r>
              <a:rPr sz="1150" b="0">
                <a:solidFill>
                  <a:srgbClr val="94A3B8"/>
                </a:solidFill>
                <a:latin typeface="Segoe UI"/>
              </a:rPr>
              <a:t>Your profile is classified the moment you save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657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557016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F4F6"/>
                </a:solidFill>
                <a:latin typeface="Segoe UI"/>
              </a:rPr>
              <a:t>Ranked matches  </a:t>
            </a:r>
            <a:r>
              <a:rPr sz="1150" b="0">
                <a:solidFill>
                  <a:srgbClr val="94A3B8"/>
                </a:solidFill>
                <a:latin typeface="Segoe UI"/>
              </a:rPr>
              <a:t>Everyone in the network scored 0–100 against you.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2062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105656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F4F6"/>
                </a:solidFill>
                <a:latin typeface="Segoe UI"/>
              </a:rPr>
              <a:t>Explainable score  </a:t>
            </a:r>
            <a:r>
              <a:rPr sz="1150" b="0">
                <a:solidFill>
                  <a:srgbClr val="94A3B8"/>
                </a:solidFill>
                <a:latin typeface="Segoe UI"/>
              </a:rPr>
              <a:t>Five bars show why — not a black box.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7548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654296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F4F6"/>
                </a:solidFill>
                <a:latin typeface="Segoe UI"/>
              </a:rPr>
              <a:t>Constellation map  </a:t>
            </a:r>
            <a:r>
              <a:rPr sz="1150" b="0">
                <a:solidFill>
                  <a:srgbClr val="94A3B8"/>
                </a:solidFill>
                <a:latin typeface="Segoe UI"/>
              </a:rPr>
              <a:t>See your matches as a star-field you can click.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53035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5202936"/>
            <a:ext cx="4663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F4F6"/>
                </a:solidFill>
                <a:latin typeface="Segoe UI"/>
              </a:rPr>
              <a:t>Connect &amp; chat  </a:t>
            </a:r>
            <a:r>
              <a:rPr sz="1150" b="0">
                <a:solidFill>
                  <a:srgbClr val="94A3B8"/>
                </a:solidFill>
                <a:latin typeface="Segoe UI"/>
              </a:rPr>
              <a:t>Requests, accept/decline, and 1:1 messaging.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818CF8"/>
                </a:solidFill>
                <a:latin typeface="Consolas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From profile to connection in one flow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735" y="2743200"/>
            <a:ext cx="2084831" cy="2286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735" y="2743200"/>
            <a:ext cx="2084831" cy="8229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3767" y="3017520"/>
            <a:ext cx="566928" cy="56692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767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66F1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767" y="3730752"/>
            <a:ext cx="16276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Build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767" y="4160520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Languages, interests, a free-text build goal &amp; zodiac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4279" y="36118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4748B"/>
                </a:solidFill>
                <a:latin typeface="Segoe UI Semibol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40583" y="2743200"/>
            <a:ext cx="2084831" cy="2286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40583" y="2743200"/>
            <a:ext cx="2084831" cy="82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96615" y="3017520"/>
            <a:ext cx="566928" cy="56692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6615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B5CF6"/>
                </a:solidFill>
                <a:latin typeface="Consola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615" y="3730752"/>
            <a:ext cx="16276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ML archetype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615" y="4160520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PCA projection + k-Means assigns 1 of 5 archetypes.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7127" y="36118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4748B"/>
                </a:solidFill>
                <a:latin typeface="Segoe UI Semi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3431" y="2743200"/>
            <a:ext cx="2084831" cy="2286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53431" y="2743200"/>
            <a:ext cx="2084831" cy="822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9463" y="3017520"/>
            <a:ext cx="566928" cy="56692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9463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B82F6"/>
                </a:solidFill>
                <a:latin typeface="Consola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9463" y="3730752"/>
            <a:ext cx="16276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5-factor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9463" y="4160520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Every other dev is scored 0–100 against you.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9975" y="36118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4748B"/>
                </a:solidFill>
                <a:latin typeface="Segoe UI Semibold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6279" y="2743200"/>
            <a:ext cx="2084831" cy="2286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66279" y="2743200"/>
            <a:ext cx="2084831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22311" y="3017520"/>
            <a:ext cx="566928" cy="56692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2311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2311" y="3730752"/>
            <a:ext cx="16276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Constellation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2311" y="4160520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Matches render as a clickable 2D star-map.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2823" y="36118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4748B"/>
                </a:solidFill>
                <a:latin typeface="Segoe UI Semibold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79127" y="2743200"/>
            <a:ext cx="2084831" cy="2286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79127" y="2743200"/>
            <a:ext cx="2084831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735159" y="3017520"/>
            <a:ext cx="566928" cy="56692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5159" y="3017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5159" y="3730752"/>
            <a:ext cx="16276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Connect &amp;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5159" y="4160520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Send requests, accept, and message your matches.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735" y="5349240"/>
            <a:ext cx="10936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Runs fully offline — the ML model is pre-trained artifacts shipped with the app, so matching is instant and private.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8B5CF6"/>
                </a:solidFill>
                <a:latin typeface="Consolas"/>
              </a:rPr>
              <a:t>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Five developer archetypes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5439" y="2286000"/>
            <a:ext cx="3566160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439" y="2286000"/>
            <a:ext cx="100584" cy="14813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759" y="2578608"/>
            <a:ext cx="457200" cy="457200"/>
          </a:xfrm>
          <a:prstGeom prst="roundRect">
            <a:avLst>
              <a:gd name="adj" fmla="val 28000"/>
            </a:avLst>
          </a:prstGeom>
          <a:noFill/>
          <a:ln w="2032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7775" y="2706624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59839" y="25237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Code Architect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3B82F6"/>
                </a:solidFill>
                <a:latin typeface="Consolas"/>
              </a:rPr>
              <a:t>BACKEND &amp;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759" y="3218688"/>
            <a:ext cx="30632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Scalable backends, databases &amp; system architecture.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2767" y="2286000"/>
            <a:ext cx="3566160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2767" y="2286000"/>
            <a:ext cx="100584" cy="148132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87087" y="2578608"/>
            <a:ext cx="457200" cy="457200"/>
          </a:xfrm>
          <a:prstGeom prst="roundRect">
            <a:avLst>
              <a:gd name="adj" fmla="val 28000"/>
            </a:avLst>
          </a:prstGeom>
          <a:noFill/>
          <a:ln w="2032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15103" y="2706624"/>
            <a:ext cx="201168" cy="20116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7167" y="25237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Pixel Alchemist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EC4899"/>
                </a:solidFill>
                <a:latin typeface="Consolas"/>
              </a:rPr>
              <a:t>UI &amp;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7087" y="3218688"/>
            <a:ext cx="30632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Beautiful interfaces, animations &amp; user experience.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0095" y="2286000"/>
            <a:ext cx="3566160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0095" y="2286000"/>
            <a:ext cx="100584" cy="14813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54415" y="2578608"/>
            <a:ext cx="457200" cy="457200"/>
          </a:xfrm>
          <a:prstGeom prst="roundRect">
            <a:avLst>
              <a:gd name="adj" fmla="val 28000"/>
            </a:avLst>
          </a:prstGeom>
          <a:noFill/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82431" y="2706624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4495" y="25237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Data Oracle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8B5CF6"/>
                </a:solidFill>
                <a:latin typeface="Consolas"/>
              </a:rPr>
              <a:t>AI &amp;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4415" y="3218688"/>
            <a:ext cx="30632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Machine learning, data pipelines &amp; predictions.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9103" y="3968496"/>
            <a:ext cx="3566160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29103" y="3968496"/>
            <a:ext cx="100584" cy="14813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03423" y="4261104"/>
            <a:ext cx="457200" cy="457200"/>
          </a:xfrm>
          <a:prstGeom prst="roundRect">
            <a:avLst>
              <a:gd name="adj" fmla="val 28000"/>
            </a:avLst>
          </a:prstGeom>
          <a:noFill/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31439" y="438912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3503" y="42062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Ship-It Maverick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F59E0B"/>
                </a:solidFill>
                <a:latin typeface="Consolas"/>
              </a:rPr>
              <a:t>FAST PRODUCT BUILDER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3423" y="4901183"/>
            <a:ext cx="30632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MVPs, startups, hackathons &amp; rapid prototypes.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6431" y="3968496"/>
            <a:ext cx="3566160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96431" y="3968496"/>
            <a:ext cx="100584" cy="14813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70751" y="4261104"/>
            <a:ext cx="457200" cy="457200"/>
          </a:xfrm>
          <a:prstGeom prst="roundRect">
            <a:avLst>
              <a:gd name="adj" fmla="val 28000"/>
            </a:avLst>
          </a:prstGeom>
          <a:noFill/>
          <a:ln w="2032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98767" y="438912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0831" y="42062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Cyber Sentinel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spc="150">
                <a:solidFill>
                  <a:srgbClr val="10B981"/>
                </a:solidFill>
                <a:latin typeface="Consolas"/>
              </a:rPr>
              <a:t>DEVOPS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0751" y="4901183"/>
            <a:ext cx="30632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Servers, cloud infra &amp; secure deployments.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Archetypes were derived by k-Means clustering + PCA over 71,223 Stack Overflow 2024 developer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3B82F6"/>
                </a:solidFill>
                <a:latin typeface="Consolas"/>
              </a:rP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A transparent 5-factor compatibility score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04872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"/>
              </a:rPr>
              <a:t>Tech-stack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6090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Jaccard similarity of languages &amp;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450591"/>
            <a:ext cx="5852160" cy="274320"/>
          </a:xfrm>
          <a:prstGeom prst="roundRect">
            <a:avLst>
              <a:gd name="adj" fmla="val 50000"/>
            </a:avLst>
          </a:prstGeom>
          <a:solidFill>
            <a:srgbClr val="11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2450591"/>
            <a:ext cx="5852160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97312" y="23957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366F1"/>
                </a:solidFill>
                <a:latin typeface="Consola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81527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"/>
              </a:rPr>
              <a:t>Archetype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59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Same or complementary archetype pairing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127247"/>
            <a:ext cx="5852160" cy="274320"/>
          </a:xfrm>
          <a:prstGeom prst="roundRect">
            <a:avLst>
              <a:gd name="adj" fmla="val 50000"/>
            </a:avLst>
          </a:prstGeom>
          <a:solidFill>
            <a:srgbClr val="11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80560" y="3127247"/>
            <a:ext cx="487680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7312" y="3072384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5CF6"/>
                </a:solidFill>
                <a:latin typeface="Consolas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58184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"/>
              </a:rPr>
              <a:t>Interests 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14215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Jaccard similarity of interest 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803904"/>
            <a:ext cx="5852160" cy="274320"/>
          </a:xfrm>
          <a:prstGeom prst="roundRect">
            <a:avLst>
              <a:gd name="adj" fmla="val 50000"/>
            </a:avLst>
          </a:prstGeom>
          <a:solidFill>
            <a:srgbClr val="11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3803904"/>
            <a:ext cx="390144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3749039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B82F6"/>
                </a:solidFill>
                <a:latin typeface="Consolas"/>
              </a:rP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3484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"/>
              </a:rPr>
              <a:t>Zodiac harmony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1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Fire / Earth / Air / Water element matrix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4480559"/>
            <a:ext cx="5852160" cy="274320"/>
          </a:xfrm>
          <a:prstGeom prst="roundRect">
            <a:avLst>
              <a:gd name="adj" fmla="val 50000"/>
            </a:avLst>
          </a:prstGeom>
          <a:solidFill>
            <a:srgbClr val="11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4480559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97312" y="4425695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4899"/>
                </a:solidFill>
                <a:latin typeface="Consolas"/>
              </a:rP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11496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"/>
              </a:rPr>
              <a:t>Build-goal similarity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67527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TF-IDF cosine of project descriptions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5157216"/>
            <a:ext cx="5852160" cy="274320"/>
          </a:xfrm>
          <a:prstGeom prst="roundRect">
            <a:avLst>
              <a:gd name="adj" fmla="val 50000"/>
            </a:avLst>
          </a:prstGeom>
          <a:solidFill>
            <a:srgbClr val="111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80560" y="5157216"/>
            <a:ext cx="19507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97312" y="5102351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Consolas"/>
              </a:rPr>
              <a:t>10%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12000"/>
            </a:avLst>
          </a:prstGeom>
          <a:solidFill>
            <a:srgbClr val="0F14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score = </a:t>
            </a:r>
            <a:r>
              <a:rPr sz="1200" b="1">
                <a:solidFill>
                  <a:srgbClr val="818CF8"/>
                </a:solidFill>
                <a:latin typeface="Consolas"/>
              </a:rPr>
              <a:t>0.30·tech + 0.25·archetype + 0.20·interests + 0.15·zodiac + 0.10·buildGoal</a:t>
            </a:r>
            <a:r>
              <a:rPr sz="1200" b="0">
                <a:solidFill>
                  <a:srgbClr val="94A3B8"/>
                </a:solidFill>
                <a:latin typeface="Consolas"/>
              </a:rPr>
              <a:t>   →  0–100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8B5CF6"/>
                </a:solidFill>
                <a:latin typeface="Consolas"/>
              </a:rPr>
              <a:t>ML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The data-science under the hood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05456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8B5CF6"/>
                </a:solidFill>
                <a:latin typeface="Segoe UI Semibold"/>
              </a:rPr>
              <a:t>PCA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9504"/>
            <a:ext cx="3099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Each profile is reduced to 2 principal components using pre-trained keyword loadings for languages, interests &amp; goal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2286000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505456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3B82F6"/>
                </a:solidFill>
                <a:latin typeface="Segoe UI Semibold"/>
              </a:rPr>
              <a:t>k-Means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89504"/>
            <a:ext cx="3099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The 2D point is assigned to its nearest of 5 archetype centroids — mirroring an offline k-Means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2286000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505456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6366F1"/>
                </a:solidFill>
                <a:latin typeface="Segoe UI Semibold"/>
              </a:rPr>
              <a:t>Jaccard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889504"/>
            <a:ext cx="3099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Set overlap of languages and interests gives a fast, interpretable tech-fit signal.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68496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B981"/>
                </a:solidFill>
                <a:latin typeface="Segoe UI Semibold"/>
              </a:rPr>
              <a:t>TF-IDF cosine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3099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Build-goal free text is vectorised and compared by cosine similarity (scikit-learn on the backend).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3968496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5" y="418795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C4899"/>
                </a:solidFill>
                <a:latin typeface="Segoe UI Semibold"/>
              </a:rPr>
              <a:t>Element harmony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5" y="4572000"/>
            <a:ext cx="3099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 4×4 Fire/Earth/Air/Water matrix adds a light, fun compatibility layer.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3968496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418795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59E0B"/>
                </a:solidFill>
                <a:latin typeface="Segoe UI Semibold"/>
              </a:rPr>
              <a:t>Weighted blend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572000"/>
            <a:ext cx="30998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All five signals are combined by fixed weights into one explainable 0–100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F59E0B"/>
                </a:solidFill>
                <a:latin typeface="Consolas"/>
              </a:rPr>
              <a:t>THE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Your matches, as a star-field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CBD5E1"/>
                </a:solidFill>
                <a:latin typeface="Segoe UI"/>
              </a:rPr>
              <a:t>The constellation canvas plots every candidate in the same 2D skill-space as you.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381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3F4F6"/>
                </a:solidFill>
                <a:latin typeface="Segoe UI"/>
              </a:rPr>
              <a:t>Closer = better fit  </a:t>
            </a:r>
            <a:r>
              <a:rPr sz="1100" b="0">
                <a:solidFill>
                  <a:srgbClr val="94A3B8"/>
                </a:solidFill>
                <a:latin typeface="Segoe UI"/>
              </a:rPr>
              <a:t>— distance encodes compatibility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41063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3F4F6"/>
                </a:solidFill>
                <a:latin typeface="Segoe UI"/>
              </a:rPr>
              <a:t>Brighter = stronger  </a:t>
            </a:r>
            <a:r>
              <a:rPr sz="1100" b="0">
                <a:solidFill>
                  <a:srgbClr val="94A3B8"/>
                </a:solidFill>
                <a:latin typeface="Segoe UI"/>
              </a:rPr>
              <a:t>— higher-scoring matches glow more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439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3F4F6"/>
                </a:solidFill>
                <a:latin typeface="Segoe UI"/>
              </a:rPr>
              <a:t>Colour = archetype  </a:t>
            </a:r>
            <a:r>
              <a:rPr sz="1100" b="0">
                <a:solidFill>
                  <a:srgbClr val="94A3B8"/>
                </a:solidFill>
                <a:latin typeface="Segoe UI"/>
              </a:rPr>
              <a:t>— each of the 5 types has its hue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469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3F4F6"/>
                </a:solidFill>
                <a:latin typeface="Segoe UI"/>
              </a:rPr>
              <a:t>Click to inspect  </a:t>
            </a:r>
            <a:r>
              <a:rPr sz="1100" b="0">
                <a:solidFill>
                  <a:srgbClr val="94A3B8"/>
                </a:solidFill>
                <a:latin typeface="Segoe UI"/>
              </a:rPr>
              <a:t>— opens the full match breakdown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98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3F4F6"/>
                </a:solidFill>
                <a:latin typeface="Segoe UI"/>
              </a:rPr>
              <a:t>Live filters  </a:t>
            </a:r>
            <a:r>
              <a:rPr sz="1100" b="0">
                <a:solidFill>
                  <a:srgbClr val="94A3B8"/>
                </a:solidFill>
                <a:latin typeface="Segoe UI"/>
              </a:rPr>
              <a:t>— min-score slider &amp; archetype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331720"/>
            <a:ext cx="6565392" cy="3703320"/>
          </a:xfrm>
          <a:prstGeom prst="roundRect">
            <a:avLst>
              <a:gd name="adj" fmla="val 12000"/>
            </a:avLst>
          </a:prstGeom>
          <a:solidFill>
            <a:srgbClr val="080B1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4871" y="2514600"/>
            <a:ext cx="5486" cy="333756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9103" y="2514600"/>
            <a:ext cx="5486" cy="333756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03336" y="2514600"/>
            <a:ext cx="5486" cy="333756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97568" y="2514600"/>
            <a:ext cx="5486" cy="333756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91799" y="2514600"/>
            <a:ext cx="5486" cy="333756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0" y="3257550"/>
            <a:ext cx="6199631" cy="5486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0" y="4183379"/>
            <a:ext cx="6199631" cy="5486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5109209"/>
            <a:ext cx="6199631" cy="5486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7998571" y="4183379"/>
            <a:ext cx="404765" cy="437288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6990762" y="4010081"/>
            <a:ext cx="1412574" cy="173298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03336" y="4183379"/>
            <a:ext cx="163882" cy="390537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03336" y="4183379"/>
            <a:ext cx="1344926" cy="464431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03336" y="4183379"/>
            <a:ext cx="354470" cy="1120994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024160" y="4183379"/>
            <a:ext cx="2379176" cy="975993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03336" y="4183379"/>
            <a:ext cx="1061291" cy="633653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476904" y="4183379"/>
            <a:ext cx="926432" cy="1301350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501044" y="3951048"/>
            <a:ext cx="902292" cy="232331"/>
          </a:xfrm>
          <a:prstGeom prst="bentConnector3">
            <a:avLst/>
          </a:prstGeom>
          <a:ln w="95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953780" y="4575876"/>
            <a:ext cx="89581" cy="89581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03863" y="3923182"/>
            <a:ext cx="173797" cy="173797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22557" y="4529255"/>
            <a:ext cx="89322" cy="8932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00888" y="4600436"/>
            <a:ext cx="94748" cy="947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7634" y="5234201"/>
            <a:ext cx="140343" cy="140343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55016" y="5090229"/>
            <a:ext cx="138287" cy="138287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17555" y="4769960"/>
            <a:ext cx="94144" cy="941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30573" y="5438398"/>
            <a:ext cx="92661" cy="92661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32349" y="3882353"/>
            <a:ext cx="137390" cy="13739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61528" y="4257320"/>
            <a:ext cx="132227" cy="132227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93839" y="3849511"/>
            <a:ext cx="141194" cy="14119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100334" y="4308470"/>
            <a:ext cx="152603" cy="152603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412081" y="5181608"/>
            <a:ext cx="132096" cy="1320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395356" y="4837800"/>
            <a:ext cx="180885" cy="18088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20523" y="4710247"/>
            <a:ext cx="97583" cy="97583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700576" y="4127641"/>
            <a:ext cx="159199" cy="15919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890524" y="3474406"/>
            <a:ext cx="116506" cy="11650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12899" y="4914822"/>
            <a:ext cx="89212" cy="8921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363599" y="4500033"/>
            <a:ext cx="88398" cy="8839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695395" y="3018382"/>
            <a:ext cx="110921" cy="110921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49200" y="4880679"/>
            <a:ext cx="176910" cy="17691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89073" y="5018830"/>
            <a:ext cx="88225" cy="882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437520" y="3665657"/>
            <a:ext cx="122318" cy="12231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878349" y="3638485"/>
            <a:ext cx="127477" cy="127477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693921" y="3647210"/>
            <a:ext cx="169199" cy="169199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049661" y="4943064"/>
            <a:ext cx="150967" cy="15096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57031" y="403707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254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63256" y="4347971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spc="200">
                <a:solidFill>
                  <a:srgbClr val="F3F4F6"/>
                </a:solidFill>
                <a:latin typeface="Consolas"/>
              </a:rPr>
              <a:t>YOU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9240" y="24963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spc="150">
                <a:solidFill>
                  <a:srgbClr val="64748B"/>
                </a:solidFill>
                <a:latin typeface="Consolas"/>
              </a:rPr>
              <a:t>compatibility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3B82F6"/>
                </a:solidFill>
                <a:latin typeface="Consolas"/>
              </a:rP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Architecture &amp; tech stack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3602736" cy="3429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286000"/>
            <a:ext cx="3602736" cy="585216"/>
          </a:xfrm>
          <a:prstGeom prst="roundRect">
            <a:avLst>
              <a:gd name="adj" fmla="val 12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" y="2487168"/>
            <a:ext cx="146304" cy="1828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395728"/>
            <a:ext cx="2962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063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063240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React 19 +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34930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493008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Vite 6 build tooling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39227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922776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Tailwind CSS v4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3525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352544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Motion (animations)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7823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782312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lucide-react icons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2120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212079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Canvas constellation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2286000"/>
            <a:ext cx="3602736" cy="3429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88536" y="2286000"/>
            <a:ext cx="3602736" cy="585216"/>
          </a:xfrm>
          <a:prstGeom prst="roundRect">
            <a:avLst>
              <a:gd name="adj" fmla="val 12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81144" y="2487168"/>
            <a:ext cx="146304" cy="182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175" y="2395728"/>
            <a:ext cx="2962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3063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5464" y="3063240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FastAPI (Python)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34930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5464" y="3493008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SQLAlchemy 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1" y="39227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3922776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PostgreSQL / SQLite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1" y="43525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5464" y="4352544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JWT + bcrypt 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1" y="47823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5464" y="4782312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scikit-learn (TF-IDF)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1" y="52120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5464" y="5212079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Express/tsx dev server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4152" y="2286000"/>
            <a:ext cx="3602736" cy="3429000"/>
          </a:xfrm>
          <a:prstGeom prst="roundRect">
            <a:avLst>
              <a:gd name="adj" fmla="val 12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74152" y="2286000"/>
            <a:ext cx="3602736" cy="585216"/>
          </a:xfrm>
          <a:prstGeom prst="roundRect">
            <a:avLst>
              <a:gd name="adj" fmla="val 12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66760" y="2487168"/>
            <a:ext cx="146304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792" y="2395728"/>
            <a:ext cx="2962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3F4F6"/>
                </a:solidFill>
                <a:latin typeface="Segoe UI Semibold"/>
              </a:rPr>
              <a:t>ML &amp;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3063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3063240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k-Means + PCA archetypes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5048" y="34930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3493008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71,223 SO 2024 devs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39227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3922776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Offline model artifacts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5048" y="43525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4352544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Jaccard + cosine scoring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47823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4782312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5-factor weighted blend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8" y="521207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5212079"/>
            <a:ext cx="27797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Deploy-ready (AWS RDS)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362102" cy="362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3038" y="385145"/>
            <a:ext cx="2926080" cy="5449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39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12801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256032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07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250">
                <a:solidFill>
                  <a:srgbClr val="10B981"/>
                </a:solidFill>
                <a:latin typeface="Consolas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3F4F6"/>
                </a:solidFill>
                <a:latin typeface="Segoe UI Semibold"/>
              </a:rPr>
              <a:t>What's built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3276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276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42032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 Semibold"/>
              </a:rPr>
              <a:t>Auth &amp;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54096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Register / login with JWT tokens, bcrypt-hashed passwords, persisted client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2286000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62855" y="2542032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670048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 Semibold"/>
              </a:rPr>
              <a:t>Profile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3054096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Languages, interests, build-goal and zodiac — instantly classified into an archetype.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2286000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8472" y="2542032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670048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 Semibold"/>
              </a:rPr>
              <a:t>Live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54096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Server-side ranking of the whole network with per-factor score breakdowns.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68496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24528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5254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 Semibold"/>
              </a:rPr>
              <a:t>Constellation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36592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Interactive 2D map with score slider, archetype filter and click-to-inspect.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3968496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62855" y="4224528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5" y="435254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 Semibold"/>
              </a:rPr>
              <a:t>Connections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4736592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Send / accept / decline requests with pending-in &amp; pending-out states.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4152" y="3968496"/>
            <a:ext cx="3602736" cy="1481328"/>
          </a:xfrm>
          <a:prstGeom prst="roundRect">
            <a:avLst>
              <a:gd name="adj" fmla="val 11000"/>
            </a:avLst>
          </a:prstGeom>
          <a:solidFill>
            <a:srgbClr val="1116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8472" y="4224528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435254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4F6"/>
                </a:solidFill>
                <a:latin typeface="Segoe UI Semibold"/>
              </a:rPr>
              <a:t>Messaging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736592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1:1 chat hub with your accepted connections and last-message previews.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8288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3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0" y="329184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4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twork_badge_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23444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3F4F6"/>
                </a:solidFill>
                <a:latin typeface="Segoe UI Semi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spc="300">
                <a:solidFill>
                  <a:srgbClr val="818CF8"/>
                </a:solidFill>
                <a:latin typeface="Consolas"/>
              </a:rPr>
              <a:t>ZETWORK  ·  BUILD WITH THE RIGHT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Matching developers by skill, mindset &amp; vibe.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5349240"/>
            <a:ext cx="320040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532120"/>
            <a:ext cx="749808" cy="749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5532120"/>
            <a:ext cx="3108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Boldbaatar Bolor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Cohort 2  ·  AI Academy Asia</a:t>
            </a:r>
          </a:p>
        </p:txBody>
      </p:sp>
      <p:pic>
        <p:nvPicPr>
          <p:cNvPr id="12" name="Picture 11" descr="aiacade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5532120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