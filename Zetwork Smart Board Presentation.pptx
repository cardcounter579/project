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371600" y="-1828800"/>
            <a:ext cx="6858000" cy="685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61A30"/>
              </a:gs>
              <a:gs pos="100000">
                <a:srgbClr val="0B0F19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0" y="3291840"/>
            <a:ext cx="5943600" cy="5943600"/>
          </a:xfrm>
          <a:prstGeom prst="roundRect">
            <a:avLst>
              <a:gd name="adj" fmla="val 50000"/>
            </a:avLst>
          </a:prstGeom>
          <a:solidFill>
            <a:srgbClr val="15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etwork_badge_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26080" y="1170432"/>
            <a:ext cx="8229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0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7432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spc="300">
                <a:solidFill>
                  <a:srgbClr val="818CF8"/>
                </a:solidFill>
                <a:latin typeface="Consolas"/>
              </a:rPr>
              <a:t>POWERING TECH TEAM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CBD5E1"/>
                </a:solidFill>
                <a:latin typeface="Segoe UI"/>
              </a:rPr>
              <a:t>Developer team-matching with </a:t>
            </a:r>
            <a:r>
              <a:rPr sz="2200" b="1">
                <a:solidFill>
                  <a:srgbClr val="F3F4F6"/>
                </a:solidFill>
                <a:latin typeface="Segoe UI"/>
              </a:rPr>
              <a:t>explainable, rule-based</a:t>
            </a:r>
            <a:r>
              <a:rPr sz="2200" b="0">
                <a:solidFill>
                  <a:srgbClr val="CBD5E1"/>
                </a:solidFill>
                <a:latin typeface="Segoe UI"/>
              </a:rPr>
              <a:t> compatibility —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CBD5E1"/>
                </a:solidFill>
                <a:latin typeface="Segoe UI"/>
              </a:rPr>
              <a:t>five developer archetypes and a transparent 5-factor score.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257800"/>
            <a:ext cx="4937760" cy="18288"/>
          </a:xfrm>
          <a:prstGeom prst="rect">
            <a:avLst/>
          </a:prstGeom>
          <a:solidFill>
            <a:srgbClr val="27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eadshot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4406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65960" y="5468112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3F4F6"/>
                </a:solidFill>
                <a:latin typeface="Segoe UI Semibold"/>
              </a:rPr>
              <a:t>Boldbaatar Bolor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Capstone Project  ·  Cohort 2</a:t>
            </a:r>
          </a:p>
        </p:txBody>
      </p:sp>
      <p:pic>
        <p:nvPicPr>
          <p:cNvPr id="12" name="Picture 11" descr="aiacadem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5440680"/>
            <a:ext cx="822960" cy="822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5468112"/>
            <a:ext cx="2468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74849B"/>
                </a:solidFill>
                <a:latin typeface="Segoe UI"/>
              </a:rPr>
              <a:t>Presented at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3F4F6"/>
                </a:solidFill>
                <a:latin typeface="Segoe UI Semibold"/>
              </a:rPr>
              <a:t>AI Academy Asia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453542" cy="4535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8486" y="374904"/>
            <a:ext cx="3657600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40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1672" cy="14630"/>
          </a:xfrm>
          <a:prstGeom prst="rect">
            <a:avLst/>
          </a:prstGeom>
          <a:solidFill>
            <a:srgbClr val="27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84048" cy="64008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3898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250">
                <a:solidFill>
                  <a:srgbClr val="818CF8"/>
                </a:solidFill>
                <a:latin typeface="Consola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7556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3F4F6"/>
                </a:solidFill>
                <a:latin typeface="Segoe UI Semibold"/>
              </a:rPr>
              <a:t>Finding people to build with is broken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09360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30936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1200" b="0">
                <a:solidFill>
                  <a:srgbClr val="74849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4849B"/>
                </a:solidFill>
                <a:latin typeface="Consolas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3529584" cy="2926080"/>
          </a:xfrm>
          <a:prstGeom prst="roundRect">
            <a:avLst>
              <a:gd name="adj" fmla="val 9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3529584" cy="10972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06324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818CF8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611880"/>
            <a:ext cx="29809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3F4F6"/>
                </a:solidFill>
                <a:latin typeface="Segoe UI Semibold"/>
              </a:rPr>
              <a:t>Skills ≠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343400"/>
            <a:ext cx="296265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Two strong engineers can still clash. Stack, working style and goals all matter — but nothing measures them together.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5" y="2697480"/>
            <a:ext cx="3529584" cy="2926080"/>
          </a:xfrm>
          <a:prstGeom prst="roundRect">
            <a:avLst>
              <a:gd name="adj" fmla="val 9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4255" y="2697480"/>
            <a:ext cx="3529584" cy="10972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1" y="306324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818CF8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1" y="3611880"/>
            <a:ext cx="29809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3F4F6"/>
                </a:solidFill>
                <a:latin typeface="Segoe UI Semibold"/>
              </a:rPr>
              <a:t>Discovery is flat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1" y="4343400"/>
            <a:ext cx="296265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Endless lists and filters. No intuitive way to see who sits closest to you in skill-space.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2697480"/>
            <a:ext cx="3529584" cy="2926080"/>
          </a:xfrm>
          <a:prstGeom prst="roundRect">
            <a:avLst>
              <a:gd name="adj" fmla="val 9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19871" y="2697480"/>
            <a:ext cx="3529584" cy="10972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7" y="306324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818CF8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3611880"/>
            <a:ext cx="29809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3F4F6"/>
                </a:solidFill>
                <a:latin typeface="Segoe UI Semibold"/>
              </a:rPr>
              <a:t>No shared “why”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7" y="4343400"/>
            <a:ext cx="296265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Reaching out is a cold guess. There's no language for why two developers would actually click.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Segoe UI"/>
              </a:rPr>
              <a:t>Zetwork turns </a:t>
            </a:r>
            <a:r>
              <a:rPr sz="1700" b="1">
                <a:solidFill>
                  <a:srgbClr val="818CF8"/>
                </a:solidFill>
                <a:latin typeface="Segoe UI"/>
              </a:rPr>
              <a:t>“who should I build with?”</a:t>
            </a:r>
            <a:r>
              <a:rPr sz="1700" b="0">
                <a:solidFill>
                  <a:srgbClr val="CBD5E1"/>
                </a:solidFill>
                <a:latin typeface="Segoe UI"/>
              </a:rPr>
              <a:t> into a measurable, visual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453542" cy="4535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8486" y="374904"/>
            <a:ext cx="3657600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40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1672" cy="14630"/>
          </a:xfrm>
          <a:prstGeom prst="rect">
            <a:avLst/>
          </a:prstGeom>
          <a:solidFill>
            <a:srgbClr val="27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84048" cy="64008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3898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250">
                <a:solidFill>
                  <a:srgbClr val="818CF8"/>
                </a:solidFill>
                <a:latin typeface="Consolas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7556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3F4F6"/>
                </a:solidFill>
                <a:latin typeface="Segoe UI Semibold"/>
              </a:rPr>
              <a:t>A team-matching engine for developers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09360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30936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1200" b="0">
                <a:solidFill>
                  <a:srgbClr val="74849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4849B"/>
                </a:solidFill>
                <a:latin typeface="Consola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CBD5E1"/>
                </a:solidFill>
                <a:latin typeface="Segoe UI"/>
              </a:rPr>
              <a:t>Each developer is profiled by </a:t>
            </a:r>
            <a:r>
              <a:rPr sz="1900" b="1">
                <a:solidFill>
                  <a:srgbClr val="F3F4F6"/>
                </a:solidFill>
                <a:latin typeface="Segoe UI"/>
              </a:rPr>
              <a:t>languages, interests,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3F4F6"/>
                </a:solidFill>
                <a:latin typeface="Segoe UI"/>
              </a:rPr>
              <a:t>a build-goal</a:t>
            </a:r>
            <a:r>
              <a:rPr sz="1900" b="0">
                <a:solidFill>
                  <a:srgbClr val="CBD5E1"/>
                </a:solidFill>
                <a:latin typeface="Segoe UI"/>
              </a:rPr>
              <a:t> and zodiac — then placed in a shared </a:t>
            </a:r>
            <a:r>
              <a:rPr sz="1900" b="1">
                <a:solidFill>
                  <a:srgbClr val="818CF8"/>
                </a:solidFill>
                <a:latin typeface="Segoe UI"/>
              </a:rPr>
              <a:t>skill-space.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CBD5E1"/>
                </a:solidFill>
                <a:latin typeface="Segoe UI"/>
              </a:rPr>
              <a:t>The engine labels one of five </a:t>
            </a:r>
            <a:r>
              <a:rPr sz="1900" b="1">
                <a:solidFill>
                  <a:srgbClr val="F3F4F6"/>
                </a:solidFill>
                <a:latin typeface="Segoe UI"/>
              </a:rPr>
              <a:t>archetypes</a:t>
            </a:r>
            <a:r>
              <a:rPr sz="1900" b="0">
                <a:solidFill>
                  <a:srgbClr val="CBD5E1"/>
                </a:solidFill>
                <a:latin typeface="Segoe UI"/>
              </a:rPr>
              <a:t> and shows </a:t>
            </a:r>
            <a:r>
              <a:rPr sz="1900" b="1">
                <a:solidFill>
                  <a:srgbClr val="818CF8"/>
                </a:solidFill>
                <a:latin typeface="Segoe UI"/>
              </a:rPr>
              <a:t>exactly why</a:t>
            </a:r>
            <a:r>
              <a:rPr sz="1900" b="0">
                <a:solidFill>
                  <a:srgbClr val="CBD5E1"/>
                </a:solidFill>
                <a:latin typeface="Segoe UI"/>
              </a:rPr>
              <a:t> two people match — then they connect &amp; chat.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818CF8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96128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archetypes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502920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818CF8"/>
                </a:solidFill>
                <a:latin typeface="Segoe UI Semibold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5596128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match factors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502920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818CF8"/>
                </a:solidFill>
                <a:latin typeface="Segoe UI Semibold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5596128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explainable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2697480"/>
            <a:ext cx="5102352" cy="3337560"/>
          </a:xfrm>
          <a:prstGeom prst="roundRect">
            <a:avLst>
              <a:gd name="adj" fmla="val 9000"/>
            </a:avLst>
          </a:prstGeom>
          <a:solidFill>
            <a:srgbClr val="0F1420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9718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150">
                <a:solidFill>
                  <a:srgbClr val="818CF8"/>
                </a:solidFill>
                <a:latin typeface="Consolas"/>
              </a:rPr>
              <a:t>What a user gets</a:t>
            </a:r>
          </a:p>
        </p:txBody>
      </p:sp>
      <p:sp>
        <p:nvSpPr>
          <p:cNvPr id="24" name="Oval 23"/>
          <p:cNvSpPr/>
          <p:nvPr/>
        </p:nvSpPr>
        <p:spPr>
          <a:xfrm>
            <a:off x="6949440" y="3483864"/>
            <a:ext cx="155448" cy="15544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3392424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3F4F6"/>
                </a:solidFill>
                <a:latin typeface="Segoe UI"/>
              </a:rPr>
              <a:t>Instant archetype  </a:t>
            </a:r>
            <a:r>
              <a:rPr sz="1400" b="0">
                <a:solidFill>
                  <a:srgbClr val="94A3B8"/>
                </a:solidFill>
                <a:latin typeface="Segoe UI"/>
              </a:rPr>
              <a:t>classified the moment you save</a:t>
            </a:r>
          </a:p>
        </p:txBody>
      </p:sp>
      <p:sp>
        <p:nvSpPr>
          <p:cNvPr id="26" name="Oval 25"/>
          <p:cNvSpPr/>
          <p:nvPr/>
        </p:nvSpPr>
        <p:spPr>
          <a:xfrm>
            <a:off x="6949440" y="3995928"/>
            <a:ext cx="155448" cy="15544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3904488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3F4F6"/>
                </a:solidFill>
                <a:latin typeface="Segoe UI"/>
              </a:rPr>
              <a:t>Ranked matches  </a:t>
            </a:r>
            <a:r>
              <a:rPr sz="1400" b="0">
                <a:solidFill>
                  <a:srgbClr val="94A3B8"/>
                </a:solidFill>
                <a:latin typeface="Segoe UI"/>
              </a:rPr>
              <a:t>everyone scored 0–100 vs you</a:t>
            </a:r>
          </a:p>
        </p:txBody>
      </p:sp>
      <p:sp>
        <p:nvSpPr>
          <p:cNvPr id="28" name="Oval 27"/>
          <p:cNvSpPr/>
          <p:nvPr/>
        </p:nvSpPr>
        <p:spPr>
          <a:xfrm>
            <a:off x="6949440" y="4507992"/>
            <a:ext cx="155448" cy="15544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4416552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3F4F6"/>
                </a:solidFill>
                <a:latin typeface="Segoe UI"/>
              </a:rPr>
              <a:t>Explainable score  </a:t>
            </a:r>
            <a:r>
              <a:rPr sz="1400" b="0">
                <a:solidFill>
                  <a:srgbClr val="94A3B8"/>
                </a:solidFill>
                <a:latin typeface="Segoe UI"/>
              </a:rPr>
              <a:t>five bars, not a black box</a:t>
            </a:r>
          </a:p>
        </p:txBody>
      </p:sp>
      <p:sp>
        <p:nvSpPr>
          <p:cNvPr id="30" name="Oval 29"/>
          <p:cNvSpPr/>
          <p:nvPr/>
        </p:nvSpPr>
        <p:spPr>
          <a:xfrm>
            <a:off x="6949440" y="5020055"/>
            <a:ext cx="155448" cy="15544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492861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3F4F6"/>
                </a:solidFill>
                <a:latin typeface="Segoe UI"/>
              </a:rPr>
              <a:t>Constellation map  </a:t>
            </a:r>
            <a:r>
              <a:rPr sz="1400" b="0">
                <a:solidFill>
                  <a:srgbClr val="94A3B8"/>
                </a:solidFill>
                <a:latin typeface="Segoe UI"/>
              </a:rPr>
              <a:t>matches as a clickable star-field</a:t>
            </a:r>
          </a:p>
        </p:txBody>
      </p:sp>
      <p:sp>
        <p:nvSpPr>
          <p:cNvPr id="32" name="Oval 31"/>
          <p:cNvSpPr/>
          <p:nvPr/>
        </p:nvSpPr>
        <p:spPr>
          <a:xfrm>
            <a:off x="6949440" y="5532120"/>
            <a:ext cx="155448" cy="15544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5440680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3F4F6"/>
                </a:solidFill>
                <a:latin typeface="Segoe UI"/>
              </a:rPr>
              <a:t>Connect &amp; chat  </a:t>
            </a:r>
            <a:r>
              <a:rPr sz="1400" b="0">
                <a:solidFill>
                  <a:srgbClr val="94A3B8"/>
                </a:solidFill>
                <a:latin typeface="Segoe UI"/>
              </a:rPr>
              <a:t>requests, accept &amp; 1:1 messaging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453542" cy="4535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8486" y="374904"/>
            <a:ext cx="3657600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40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1672" cy="14630"/>
          </a:xfrm>
          <a:prstGeom prst="rect">
            <a:avLst/>
          </a:prstGeom>
          <a:solidFill>
            <a:srgbClr val="27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84048" cy="64008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3898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250">
                <a:solidFill>
                  <a:srgbClr val="818CF8"/>
                </a:solidFill>
                <a:latin typeface="Consolas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7556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3F4F6"/>
                </a:solidFill>
                <a:latin typeface="Segoe UI Semibold"/>
              </a:rPr>
              <a:t>From profile to connection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09360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30936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1200" b="0">
                <a:solidFill>
                  <a:srgbClr val="74849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4849B"/>
                </a:solidFill>
                <a:latin typeface="Consolas"/>
              </a:rP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007" y="2880360"/>
            <a:ext cx="2121408" cy="2514600"/>
          </a:xfrm>
          <a:prstGeom prst="roundRect">
            <a:avLst>
              <a:gd name="adj" fmla="val 11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8007" y="2880360"/>
            <a:ext cx="2121408" cy="1005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0615" y="3191256"/>
            <a:ext cx="676656" cy="676656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615" y="3191256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6366F1"/>
                </a:solidFill>
                <a:latin typeface="Consola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615" y="4014215"/>
            <a:ext cx="16642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3F4F6"/>
                </a:solidFill>
                <a:latin typeface="Segoe UI Semibold"/>
              </a:rPr>
              <a:t>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615" y="4507992"/>
            <a:ext cx="16184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Languages, interests, build-goal &amp; zodiac.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3695" y="384048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74849B"/>
                </a:solidFill>
                <a:latin typeface="Segoe UI Semibold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76575" y="2880360"/>
            <a:ext cx="2121408" cy="2514600"/>
          </a:xfrm>
          <a:prstGeom prst="roundRect">
            <a:avLst>
              <a:gd name="adj" fmla="val 11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76575" y="2880360"/>
            <a:ext cx="2121408" cy="10058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69183" y="3191256"/>
            <a:ext cx="676656" cy="676656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9183" y="3191256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8B5CF6"/>
                </a:solidFill>
                <a:latin typeface="Consola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9183" y="4014215"/>
            <a:ext cx="16642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3F4F6"/>
                </a:solidFill>
                <a:latin typeface="Segoe UI Semibold"/>
              </a:rPr>
              <a:t>Archetype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9183" y="4507992"/>
            <a:ext cx="16184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Projected &amp; matched to nearest of 5 centroids.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2263" y="384048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74849B"/>
                </a:solidFill>
                <a:latin typeface="Segoe UI Semibold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35143" y="2880360"/>
            <a:ext cx="2121408" cy="2514600"/>
          </a:xfrm>
          <a:prstGeom prst="roundRect">
            <a:avLst>
              <a:gd name="adj" fmla="val 11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35143" y="2880360"/>
            <a:ext cx="2121408" cy="10058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27751" y="3191256"/>
            <a:ext cx="676656" cy="676656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27751" y="3191256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B82F6"/>
                </a:solidFill>
                <a:latin typeface="Consola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7751" y="4014215"/>
            <a:ext cx="16642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3F4F6"/>
                </a:solidFill>
                <a:latin typeface="Segoe UI Semibold"/>
              </a:rPr>
              <a:t>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7751" y="4507992"/>
            <a:ext cx="16184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Every other dev scored 0–100 against you.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0831" y="384048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74849B"/>
                </a:solidFill>
                <a:latin typeface="Segoe UI Semibold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3711" y="2880360"/>
            <a:ext cx="2121408" cy="2514600"/>
          </a:xfrm>
          <a:prstGeom prst="roundRect">
            <a:avLst>
              <a:gd name="adj" fmla="val 11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293711" y="2880360"/>
            <a:ext cx="2121408" cy="1005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86319" y="3191256"/>
            <a:ext cx="676656" cy="676656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6319" y="3191256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9E0B"/>
                </a:solidFill>
                <a:latin typeface="Consola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6319" y="4014215"/>
            <a:ext cx="16642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3F4F6"/>
                </a:solidFill>
                <a:latin typeface="Segoe UI Semibold"/>
              </a:rPr>
              <a:t>Constellation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6319" y="4507992"/>
            <a:ext cx="16184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Matches drawn as a clickable star-map.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9399" y="384048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74849B"/>
                </a:solidFill>
                <a:latin typeface="Segoe UI Semibold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2279" y="2880360"/>
            <a:ext cx="2121408" cy="2514600"/>
          </a:xfrm>
          <a:prstGeom prst="roundRect">
            <a:avLst>
              <a:gd name="adj" fmla="val 11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52279" y="2880360"/>
            <a:ext cx="2121408" cy="1005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844887" y="3191256"/>
            <a:ext cx="676656" cy="676656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44887" y="3191256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0B981"/>
                </a:solidFill>
                <a:latin typeface="Consolas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44887" y="4014215"/>
            <a:ext cx="16642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3F4F6"/>
                </a:solidFill>
                <a:latin typeface="Segoe UI Semibold"/>
              </a:rPr>
              <a:t>Connect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44887" y="4507992"/>
            <a:ext cx="16184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Send requests, accept &amp; message.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8007" y="5715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Runs fully offline — deterministic, instant, and fully explainable.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453542" cy="4535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8486" y="374904"/>
            <a:ext cx="3657600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40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1672" cy="14630"/>
          </a:xfrm>
          <a:prstGeom prst="rect">
            <a:avLst/>
          </a:prstGeom>
          <a:solidFill>
            <a:srgbClr val="27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84048" cy="640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3898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250">
                <a:solidFill>
                  <a:srgbClr val="8B5CF6"/>
                </a:solidFill>
                <a:latin typeface="Consolas"/>
              </a:rPr>
              <a:t>THE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7556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3F4F6"/>
                </a:solidFill>
                <a:latin typeface="Segoe UI Semibold"/>
              </a:rPr>
              <a:t>Five developer archetypes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09360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30936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1200" b="0">
                <a:solidFill>
                  <a:srgbClr val="74849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4849B"/>
                </a:solidFill>
                <a:latin typeface="Consolas"/>
              </a:rP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5439" y="2788920"/>
            <a:ext cx="3529584" cy="1572768"/>
          </a:xfrm>
          <a:prstGeom prst="roundRect">
            <a:avLst>
              <a:gd name="adj" fmla="val 10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5439" y="2788920"/>
            <a:ext cx="118872" cy="15727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4623" y="3172968"/>
            <a:ext cx="621792" cy="621792"/>
          </a:xfrm>
          <a:prstGeom prst="roundRect">
            <a:avLst>
              <a:gd name="adj" fmla="val 28000"/>
            </a:avLst>
          </a:prstGeom>
          <a:noFill/>
          <a:ln w="222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8359" y="3346703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79295" y="3191256"/>
            <a:ext cx="2157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3F4F6"/>
                </a:solidFill>
                <a:latin typeface="Segoe UI Semibold"/>
              </a:rPr>
              <a:t>Code Architect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spc="150">
                <a:solidFill>
                  <a:srgbClr val="3B82F6"/>
                </a:solidFill>
                <a:latin typeface="Consolas"/>
              </a:rPr>
              <a:t>BACKEND &amp; SYSTEMS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1055" y="2788920"/>
            <a:ext cx="3529584" cy="1572768"/>
          </a:xfrm>
          <a:prstGeom prst="roundRect">
            <a:avLst>
              <a:gd name="adj" fmla="val 10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1055" y="2788920"/>
            <a:ext cx="118872" cy="157276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60239" y="3172968"/>
            <a:ext cx="621792" cy="621792"/>
          </a:xfrm>
          <a:prstGeom prst="roundRect">
            <a:avLst>
              <a:gd name="adj" fmla="val 28000"/>
            </a:avLst>
          </a:prstGeom>
          <a:noFill/>
          <a:ln w="2222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33975" y="3346703"/>
            <a:ext cx="274320" cy="27432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64911" y="3191256"/>
            <a:ext cx="2157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3F4F6"/>
                </a:solidFill>
                <a:latin typeface="Segoe UI Semibold"/>
              </a:rPr>
              <a:t>Pixel Alchemist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spc="150">
                <a:solidFill>
                  <a:srgbClr val="EC4899"/>
                </a:solidFill>
                <a:latin typeface="Consolas"/>
              </a:rPr>
              <a:t>UI &amp;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6671" y="2788920"/>
            <a:ext cx="3529584" cy="1572768"/>
          </a:xfrm>
          <a:prstGeom prst="roundRect">
            <a:avLst>
              <a:gd name="adj" fmla="val 10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16671" y="2788920"/>
            <a:ext cx="118872" cy="157276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45855" y="3172968"/>
            <a:ext cx="621792" cy="621792"/>
          </a:xfrm>
          <a:prstGeom prst="roundRect">
            <a:avLst>
              <a:gd name="adj" fmla="val 28000"/>
            </a:avLst>
          </a:prstGeom>
          <a:noFill/>
          <a:ln w="222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19591" y="3346703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0527" y="3191256"/>
            <a:ext cx="2157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3F4F6"/>
                </a:solidFill>
                <a:latin typeface="Segoe UI Semibold"/>
              </a:rPr>
              <a:t>Data Oracle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spc="150">
                <a:solidFill>
                  <a:srgbClr val="8B5CF6"/>
                </a:solidFill>
                <a:latin typeface="Consolas"/>
              </a:rPr>
              <a:t>AI &amp;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38247" y="4617720"/>
            <a:ext cx="3529584" cy="1572768"/>
          </a:xfrm>
          <a:prstGeom prst="roundRect">
            <a:avLst>
              <a:gd name="adj" fmla="val 10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38247" y="4617720"/>
            <a:ext cx="118872" cy="157276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67431" y="5001768"/>
            <a:ext cx="621792" cy="621792"/>
          </a:xfrm>
          <a:prstGeom prst="roundRect">
            <a:avLst>
              <a:gd name="adj" fmla="val 28000"/>
            </a:avLst>
          </a:prstGeom>
          <a:noFill/>
          <a:ln w="222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41167" y="5175504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72103" y="5020056"/>
            <a:ext cx="2157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3F4F6"/>
                </a:solidFill>
                <a:latin typeface="Segoe UI Semibold"/>
              </a:rPr>
              <a:t>Ship-It Maverick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spc="150">
                <a:solidFill>
                  <a:srgbClr val="F59E0B"/>
                </a:solidFill>
                <a:latin typeface="Consolas"/>
              </a:rPr>
              <a:t>FAST PRODUCT BUILDER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3863" y="4617720"/>
            <a:ext cx="3529584" cy="1572768"/>
          </a:xfrm>
          <a:prstGeom prst="roundRect">
            <a:avLst>
              <a:gd name="adj" fmla="val 10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23863" y="4617720"/>
            <a:ext cx="118872" cy="15727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53047" y="5001768"/>
            <a:ext cx="621792" cy="621792"/>
          </a:xfrm>
          <a:prstGeom prst="roundRect">
            <a:avLst>
              <a:gd name="adj" fmla="val 28000"/>
            </a:avLst>
          </a:prstGeom>
          <a:noFill/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26783" y="5175504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7719" y="5020056"/>
            <a:ext cx="21579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3F4F6"/>
                </a:solidFill>
                <a:latin typeface="Segoe UI Semibold"/>
              </a:rPr>
              <a:t>Cyber Sentinel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spc="150">
                <a:solidFill>
                  <a:srgbClr val="10B981"/>
                </a:solidFill>
                <a:latin typeface="Consolas"/>
              </a:rPr>
              <a:t>DEVOPS &amp;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453542" cy="4535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8486" y="374904"/>
            <a:ext cx="3657600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40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1672" cy="14630"/>
          </a:xfrm>
          <a:prstGeom prst="rect">
            <a:avLst/>
          </a:prstGeom>
          <a:solidFill>
            <a:srgbClr val="27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84048" cy="640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3898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250">
                <a:solidFill>
                  <a:srgbClr val="3B82F6"/>
                </a:solidFill>
                <a:latin typeface="Consolas"/>
              </a:rPr>
              <a:t>THE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7556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3F4F6"/>
                </a:solidFill>
                <a:latin typeface="Segoe UI Semibold"/>
              </a:rPr>
              <a:t>A transparent 5-factor score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09360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30936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1200" b="0">
                <a:solidFill>
                  <a:srgbClr val="74849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4849B"/>
                </a:solidFill>
                <a:latin typeface="Consolas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3840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3F4F6"/>
                </a:solidFill>
                <a:latin typeface="Segoe UI"/>
              </a:rPr>
              <a:t>Tech-stack overlap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07791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4849B"/>
                </a:solidFill>
                <a:latin typeface="Segoe UI"/>
              </a:rPr>
              <a:t>Jaccard of languages &amp;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2670048"/>
            <a:ext cx="5212080" cy="310896"/>
          </a:xfrm>
          <a:prstGeom prst="roundRect">
            <a:avLst>
              <a:gd name="adj" fmla="val 50000"/>
            </a:avLst>
          </a:prstGeom>
          <a:solidFill>
            <a:srgbClr val="14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92040" y="2670048"/>
            <a:ext cx="5212080" cy="31089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0" y="260604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6366F1"/>
                </a:solidFill>
                <a:latin typeface="Consolas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18688"/>
            <a:ext cx="3840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3F4F6"/>
                </a:solidFill>
                <a:latin typeface="Segoe UI"/>
              </a:rPr>
              <a:t>Archetype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11296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4849B"/>
                </a:solidFill>
                <a:latin typeface="Segoe UI"/>
              </a:rPr>
              <a:t>same or complementary pairing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273552"/>
            <a:ext cx="5212080" cy="310896"/>
          </a:xfrm>
          <a:prstGeom prst="roundRect">
            <a:avLst>
              <a:gd name="adj" fmla="val 50000"/>
            </a:avLst>
          </a:prstGeom>
          <a:solidFill>
            <a:srgbClr val="14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92040" y="3273552"/>
            <a:ext cx="43434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7000" y="3209544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8B5CF6"/>
                </a:solidFill>
                <a:latin typeface="Consolas"/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22191"/>
            <a:ext cx="3840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3F4F6"/>
                </a:solidFill>
                <a:latin typeface="Segoe UI"/>
              </a:rPr>
              <a:t>Interests overlap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4849B"/>
                </a:solidFill>
                <a:latin typeface="Segoe UI"/>
              </a:rPr>
              <a:t>Jaccard of interest tags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3877055"/>
            <a:ext cx="5212080" cy="310896"/>
          </a:xfrm>
          <a:prstGeom prst="roundRect">
            <a:avLst>
              <a:gd name="adj" fmla="val 50000"/>
            </a:avLst>
          </a:prstGeom>
          <a:solidFill>
            <a:srgbClr val="14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92040" y="3877055"/>
            <a:ext cx="3474720" cy="3108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3813048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3B82F6"/>
                </a:solidFill>
                <a:latin typeface="Consolas"/>
              </a:rPr>
              <a:t>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25696"/>
            <a:ext cx="3840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3F4F6"/>
                </a:solidFill>
                <a:latin typeface="Segoe UI"/>
              </a:rPr>
              <a:t>Zodiac harmony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1830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4849B"/>
                </a:solidFill>
                <a:latin typeface="Segoe UI"/>
              </a:rPr>
              <a:t>element compatibility matrix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92040" y="4480559"/>
            <a:ext cx="5212080" cy="310896"/>
          </a:xfrm>
          <a:prstGeom prst="roundRect">
            <a:avLst>
              <a:gd name="adj" fmla="val 50000"/>
            </a:avLst>
          </a:prstGeom>
          <a:solidFill>
            <a:srgbClr val="14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92040" y="4480559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4416552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EC4899"/>
                </a:solidFill>
                <a:latin typeface="Consolas"/>
              </a:rPr>
              <a:t>15%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29200"/>
            <a:ext cx="3840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3F4F6"/>
                </a:solidFill>
                <a:latin typeface="Segoe UI"/>
              </a:rPr>
              <a:t>Build-goal similarity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2180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4849B"/>
                </a:solidFill>
                <a:latin typeface="Segoe UI"/>
              </a:rPr>
              <a:t>TF-IDF cosine (scikit-learn)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2040" y="5084064"/>
            <a:ext cx="5212080" cy="310896"/>
          </a:xfrm>
          <a:prstGeom prst="roundRect">
            <a:avLst>
              <a:gd name="adj" fmla="val 50000"/>
            </a:avLst>
          </a:prstGeom>
          <a:solidFill>
            <a:srgbClr val="14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892040" y="508406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87000" y="5020056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0B981"/>
                </a:solidFill>
                <a:latin typeface="Consolas"/>
              </a:rPr>
              <a:t>10%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687568"/>
            <a:ext cx="11091672" cy="512064"/>
          </a:xfrm>
          <a:prstGeom prst="roundRect">
            <a:avLst>
              <a:gd name="adj" fmla="val 10000"/>
            </a:avLst>
          </a:prstGeom>
          <a:solidFill>
            <a:srgbClr val="0F1420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687568"/>
            <a:ext cx="106070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4A3B8"/>
                </a:solidFill>
                <a:latin typeface="Consolas"/>
              </a:rPr>
              <a:t>score = </a:t>
            </a:r>
            <a:r>
              <a:rPr sz="1350" b="1">
                <a:solidFill>
                  <a:srgbClr val="818CF8"/>
                </a:solidFill>
                <a:latin typeface="Consolas"/>
              </a:rPr>
              <a:t>0.30·tech + 0.25·archetype + 0.20·interests + 0.15·zodiac + 0.10·goal</a:t>
            </a:r>
            <a:r>
              <a:rPr sz="1350" b="0">
                <a:solidFill>
                  <a:srgbClr val="94A3B8"/>
                </a:solidFill>
                <a:latin typeface="Consolas"/>
              </a:rPr>
              <a:t>  → 0–100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453542" cy="4535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8486" y="374904"/>
            <a:ext cx="3657600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40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1672" cy="14630"/>
          </a:xfrm>
          <a:prstGeom prst="rect">
            <a:avLst/>
          </a:prstGeom>
          <a:solidFill>
            <a:srgbClr val="27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84048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3898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250">
                <a:solidFill>
                  <a:srgbClr val="F59E0B"/>
                </a:solidFill>
                <a:latin typeface="Consolas"/>
              </a:rPr>
              <a:t>REAL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7556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3F4F6"/>
                </a:solidFill>
                <a:latin typeface="Segoe UI Semibold"/>
              </a:rPr>
              <a:t>The archetype map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09360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30936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1200" b="0">
                <a:solidFill>
                  <a:srgbClr val="74849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4849B"/>
                </a:solidFill>
                <a:latin typeface="Consolas"/>
              </a:rPr>
              <a:t>07</a:t>
            </a:r>
          </a:p>
        </p:txBody>
      </p:sp>
      <p:pic>
        <p:nvPicPr>
          <p:cNvPr id="12" name="Picture 11" descr="archetype_sp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331720"/>
            <a:ext cx="7360920" cy="3950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2514600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CBD5E1"/>
                </a:solidFill>
                <a:latin typeface="Segoe UI"/>
              </a:rPr>
              <a:t>Every profile in the seed network, projected into the 2D skill-space.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3429000" cy="1097280"/>
          </a:xfrm>
          <a:prstGeom prst="roundRect">
            <a:avLst>
              <a:gd name="adj" fmla="val 12000"/>
            </a:avLst>
          </a:prstGeom>
          <a:solidFill>
            <a:srgbClr val="141A2A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1363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10B981"/>
                </a:solidFill>
                <a:latin typeface="Segoe UI Semibold"/>
              </a:rPr>
              <a:t>10 /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CBD5E1"/>
                </a:solidFill>
                <a:latin typeface="Segoe UI"/>
              </a:rPr>
              <a:t>seed archetypes reproduced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3520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Nearest-centroid labels match every stored assignment — the rule is consistent, not hand-picked.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453542" cy="4535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8486" y="374904"/>
            <a:ext cx="3657600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40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1672" cy="14630"/>
          </a:xfrm>
          <a:prstGeom prst="rect">
            <a:avLst/>
          </a:prstGeom>
          <a:solidFill>
            <a:srgbClr val="27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84048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3898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250">
                <a:solidFill>
                  <a:srgbClr val="F59E0B"/>
                </a:solidFill>
                <a:latin typeface="Consolas"/>
              </a:rPr>
              <a:t>REAL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7556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3F4F6"/>
                </a:solidFill>
                <a:latin typeface="Segoe UI Semibold"/>
              </a:rPr>
              <a:t>A real match, scored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09360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30936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1200" b="0">
                <a:solidFill>
                  <a:srgbClr val="74849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4849B"/>
                </a:solidFill>
                <a:latin typeface="Consolas"/>
              </a:rP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7" y="3035808"/>
            <a:ext cx="530352" cy="5303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6192" y="2980944"/>
            <a:ext cx="1554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3F4F6"/>
                </a:solidFill>
                <a:latin typeface="Segoe UI Semibold"/>
              </a:rPr>
              <a:t>Temuulen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spc="100">
                <a:solidFill>
                  <a:srgbClr val="8B5CF6"/>
                </a:solidFill>
                <a:latin typeface="Consolas"/>
              </a:rPr>
              <a:t>DATA ORACLE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694176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AI &amp; data specialist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651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0" y="2651760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45168" y="3035808"/>
            <a:ext cx="530352" cy="5303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0112" y="2980944"/>
            <a:ext cx="1554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3F4F6"/>
                </a:solidFill>
                <a:latin typeface="Segoe UI Semibold"/>
              </a:rPr>
              <a:t>Munkhzul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spc="100">
                <a:solidFill>
                  <a:srgbClr val="8B5CF6"/>
                </a:solidFill>
                <a:latin typeface="Consolas"/>
              </a:rPr>
              <a:t>DATA ORACLE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3694176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AI &amp; data specialist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2514600"/>
            <a:ext cx="4754880" cy="1691640"/>
          </a:xfrm>
          <a:prstGeom prst="roundRect">
            <a:avLst>
              <a:gd name="adj" fmla="val 14000"/>
            </a:avLst>
          </a:prstGeom>
          <a:solidFill>
            <a:srgbClr val="0F1420"/>
          </a:solidFill>
          <a:ln w="190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265176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600" b="1">
                <a:solidFill>
                  <a:srgbClr val="818CF8"/>
                </a:solidFill>
                <a:latin typeface="Segoe UI Semibold"/>
              </a:rPr>
              <a:t>79%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675887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spc="200">
                <a:solidFill>
                  <a:srgbClr val="94A3B8"/>
                </a:solidFill>
                <a:latin typeface="Consolas"/>
              </a:rPr>
              <a:t>OVERALL COMPATIBILITY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07992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Tech-stack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4544568"/>
            <a:ext cx="6035040" cy="201168"/>
          </a:xfrm>
          <a:prstGeom prst="roundRect">
            <a:avLst>
              <a:gd name="adj" fmla="val 50000"/>
            </a:avLst>
          </a:prstGeom>
          <a:solidFill>
            <a:srgbClr val="14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46120" y="4544568"/>
            <a:ext cx="4526279" cy="20116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5751" y="4498848"/>
            <a:ext cx="82296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6366F1"/>
                </a:solidFill>
                <a:latin typeface="Consolas"/>
              </a:rPr>
              <a:t>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50892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Interests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4887468"/>
            <a:ext cx="6035040" cy="201168"/>
          </a:xfrm>
          <a:prstGeom prst="roundRect">
            <a:avLst>
              <a:gd name="adj" fmla="val 50000"/>
            </a:avLst>
          </a:prstGeom>
          <a:solidFill>
            <a:srgbClr val="14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46120" y="4887468"/>
            <a:ext cx="4526279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5751" y="4841748"/>
            <a:ext cx="82296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B82F6"/>
                </a:solidFill>
                <a:latin typeface="Consolas"/>
              </a:rPr>
              <a:t>75%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93792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Archetype fit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46120" y="5230368"/>
            <a:ext cx="6035040" cy="201168"/>
          </a:xfrm>
          <a:prstGeom prst="roundRect">
            <a:avLst>
              <a:gd name="adj" fmla="val 50000"/>
            </a:avLst>
          </a:prstGeom>
          <a:solidFill>
            <a:srgbClr val="14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46120" y="5230368"/>
            <a:ext cx="6035040" cy="20116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45751" y="5184648"/>
            <a:ext cx="82296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8B5CF6"/>
                </a:solidFill>
                <a:latin typeface="Consolas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36692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Zodiac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46120" y="5573268"/>
            <a:ext cx="6035040" cy="201168"/>
          </a:xfrm>
          <a:prstGeom prst="roundRect">
            <a:avLst>
              <a:gd name="adj" fmla="val 50000"/>
            </a:avLst>
          </a:prstGeom>
          <a:solidFill>
            <a:srgbClr val="14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246120" y="5573268"/>
            <a:ext cx="6035040" cy="20116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45751" y="5527548"/>
            <a:ext cx="82296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C4899"/>
                </a:solidFill>
                <a:latin typeface="Consolas"/>
              </a:rP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79592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Build-goal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46120" y="5916168"/>
            <a:ext cx="6035040" cy="201168"/>
          </a:xfrm>
          <a:prstGeom prst="roundRect">
            <a:avLst>
              <a:gd name="adj" fmla="val 50000"/>
            </a:avLst>
          </a:prstGeom>
          <a:solidFill>
            <a:srgbClr val="14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46120" y="5916168"/>
            <a:ext cx="965606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45751" y="5870448"/>
            <a:ext cx="82296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Consolas"/>
              </a:rPr>
              <a:t>16%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453542" cy="4535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8486" y="374904"/>
            <a:ext cx="3657600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40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1672" cy="14630"/>
          </a:xfrm>
          <a:prstGeom prst="rect">
            <a:avLst/>
          </a:prstGeom>
          <a:solidFill>
            <a:srgbClr val="27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84048" cy="640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3898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250">
                <a:solidFill>
                  <a:srgbClr val="8B5CF6"/>
                </a:solidFill>
                <a:latin typeface="Consolas"/>
              </a:rPr>
              <a:t>HOW IT REALLY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7556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3F4F6"/>
                </a:solidFill>
                <a:latin typeface="Segoe UI Semibold"/>
              </a:rPr>
              <a:t>Under the hood: honest &amp; explainable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09360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30936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1200" b="0">
                <a:solidFill>
                  <a:srgbClr val="74849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4849B"/>
                </a:solidFill>
                <a:latin typeface="Consolas"/>
              </a:rP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70048"/>
            <a:ext cx="5541264" cy="1572768"/>
          </a:xfrm>
          <a:prstGeom prst="roundRect">
            <a:avLst>
              <a:gd name="adj" fmla="val 10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670048"/>
            <a:ext cx="118872" cy="157276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89504"/>
            <a:ext cx="49011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8B5CF6"/>
                </a:solidFill>
                <a:latin typeface="Segoe UI Semibold"/>
              </a:rPr>
              <a:t>Archetypes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64991"/>
            <a:ext cx="4855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Five personas informed by the Stack Overflow 2024 Developer Survey (70k+ respondents). Each is a fixed point in a 2D skill-space.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2670048"/>
            <a:ext cx="5541264" cy="1572768"/>
          </a:xfrm>
          <a:prstGeom prst="roundRect">
            <a:avLst>
              <a:gd name="adj" fmla="val 10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5936" y="2670048"/>
            <a:ext cx="118872" cy="15727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1696" y="2889504"/>
            <a:ext cx="49011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3B82F6"/>
                </a:solidFill>
                <a:latin typeface="Segoe UI Semibold"/>
              </a:rPr>
              <a:t>Projection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3364991"/>
            <a:ext cx="4855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Every profile is mapped to that space by keyword loadings (a PCA-style linear map), then labelled by its nearest centroid — a transparent k-means-style rule.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43983"/>
            <a:ext cx="5541264" cy="1572768"/>
          </a:xfrm>
          <a:prstGeom prst="roundRect">
            <a:avLst>
              <a:gd name="adj" fmla="val 10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443983"/>
            <a:ext cx="118872" cy="157276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49011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6366F1"/>
                </a:solidFill>
                <a:latin typeface="Segoe UI Semibold"/>
              </a:rPr>
              <a:t>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38927"/>
            <a:ext cx="4855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Jaccard set-overlap + TF-IDF cosine (scikit-learn on the backend) + an element matrix, blended by fixed weights into 0–100.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45936" y="4443983"/>
            <a:ext cx="5541264" cy="1572768"/>
          </a:xfrm>
          <a:prstGeom prst="roundRect">
            <a:avLst>
              <a:gd name="adj" fmla="val 10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45936" y="4443983"/>
            <a:ext cx="118872" cy="15727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1696" y="4663440"/>
            <a:ext cx="49011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10B981"/>
                </a:solidFill>
                <a:latin typeface="Segoe UI Semibold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1696" y="5138927"/>
            <a:ext cx="4855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Segoe UI"/>
              </a:rPr>
              <a:t>Deterministic and instant — no black box. Every score traces back to its inputs, so a match can always be explained.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twork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453542" cy="4535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8486" y="374904"/>
            <a:ext cx="3657600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40" b="1">
                <a:solidFill>
                  <a:srgbClr val="F3F4F6"/>
                </a:solidFill>
                <a:latin typeface="Segoe UI Semibold"/>
              </a:rPr>
              <a:t>Zetwork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1672" cy="14630"/>
          </a:xfrm>
          <a:prstGeom prst="rect">
            <a:avLst/>
          </a:prstGeom>
          <a:solidFill>
            <a:srgbClr val="27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84048" cy="640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3898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250">
                <a:solidFill>
                  <a:srgbClr val="3B82F6"/>
                </a:solidFill>
                <a:latin typeface="Consolas"/>
              </a:rPr>
              <a:t>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7556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3F4F6"/>
                </a:solidFill>
                <a:latin typeface="Segoe UI Semibold"/>
              </a:rPr>
              <a:t>Architecture &amp; tech stack</a:t>
            </a:r>
          </a:p>
        </p:txBody>
      </p:sp>
      <p:pic>
        <p:nvPicPr>
          <p:cNvPr id="9" name="Picture 8" descr="aiacade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09360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30936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Boldbaatar Bolor</a:t>
            </a:r>
            <a:r>
              <a:rPr sz="1200" b="0">
                <a:solidFill>
                  <a:srgbClr val="74849B"/>
                </a:solidFill>
                <a:latin typeface="Segoe UI"/>
              </a:rPr>
              <a:t>   ·  Cohort 2  ·  AI Academy Asia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4849B"/>
                </a:solidFill>
                <a:latin typeface="Consolas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3529584" cy="3200400"/>
          </a:xfrm>
          <a:prstGeom prst="roundRect">
            <a:avLst>
              <a:gd name="adj" fmla="val 11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743200"/>
            <a:ext cx="3529584" cy="713232"/>
          </a:xfrm>
          <a:prstGeom prst="roundRect">
            <a:avLst>
              <a:gd name="adj" fmla="val 11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2980944"/>
            <a:ext cx="182880" cy="23774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2834640"/>
            <a:ext cx="279806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3F4F6"/>
                </a:solidFill>
                <a:latin typeface="Segoe UI Semibold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7033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6366F1"/>
                </a:solidFill>
                <a:latin typeface="Consolas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03320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React 19 + 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23367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6366F1"/>
                </a:solidFill>
                <a:latin typeface="Consolas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233672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Vite 6  ·  Tailwind v4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76402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6366F1"/>
                </a:solidFill>
                <a:latin typeface="Consolas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7" y="4764024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Motion animations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294375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6366F1"/>
                </a:solidFill>
                <a:latin typeface="Consolas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7" y="5294375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Canvas constellation 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4255" y="2743200"/>
            <a:ext cx="3529584" cy="3200400"/>
          </a:xfrm>
          <a:prstGeom prst="roundRect">
            <a:avLst>
              <a:gd name="adj" fmla="val 11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34255" y="2743200"/>
            <a:ext cx="3529584" cy="713232"/>
          </a:xfrm>
          <a:prstGeom prst="roundRect">
            <a:avLst>
              <a:gd name="adj" fmla="val 11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2980944"/>
            <a:ext cx="182880" cy="2377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74336" y="2834640"/>
            <a:ext cx="279806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3F4F6"/>
                </a:solidFill>
                <a:latin typeface="Segoe UI Semibold"/>
              </a:rPr>
              <a:t>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7" y="37033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Consolas"/>
              </a:rP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2623" y="3703320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FastAPI (Python)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7" y="423367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Consolas"/>
              </a:rP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2623" y="4233672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SQLAlchemy  ·  PostgreSQL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7" y="476402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Consolas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2623" y="4764024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JWT + bcrypt 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7" y="5294375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Consolas"/>
              </a:rP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2623" y="5294375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scikit-learn (TF-IDF)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1" y="2743200"/>
            <a:ext cx="3529584" cy="3200400"/>
          </a:xfrm>
          <a:prstGeom prst="roundRect">
            <a:avLst>
              <a:gd name="adj" fmla="val 11000"/>
            </a:avLst>
          </a:prstGeom>
          <a:solidFill>
            <a:srgbClr val="141A2A"/>
          </a:solidFill>
          <a:ln w="15875">
            <a:solidFill>
              <a:srgbClr val="27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19871" y="2743200"/>
            <a:ext cx="3529584" cy="713232"/>
          </a:xfrm>
          <a:prstGeom prst="roundRect">
            <a:avLst>
              <a:gd name="adj" fmla="val 11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49055" y="2980944"/>
            <a:ext cx="182880" cy="23774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59951" y="2834640"/>
            <a:ext cx="279806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F3F4F6"/>
                </a:solidFill>
                <a:latin typeface="Segoe UI Semibold"/>
              </a:rPr>
              <a:t>ML &amp;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7344" y="37033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8B5CF6"/>
                </a:solidFill>
                <a:latin typeface="Consolas"/>
              </a:rP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3703320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5 survey-informed archetypes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7344" y="423367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8B5CF6"/>
                </a:solidFill>
                <a:latin typeface="Consolas"/>
              </a:rPr>
              <a:t>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233672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PCA-style projection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7344" y="476402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8B5CF6"/>
                </a:solidFill>
                <a:latin typeface="Consolas"/>
              </a:rPr>
              <a:t>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4764024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Nearest-centroid labelling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7344" y="5294375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8B5CF6"/>
                </a:solidFill>
                <a:latin typeface="Consolas"/>
              </a:rPr>
              <a:t>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5294375"/>
            <a:ext cx="2615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Jaccard + cosine scoring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371600" y="-1828800"/>
            <a:ext cx="6858000" cy="6858000"/>
          </a:xfrm>
          <a:prstGeom prst="roundRect">
            <a:avLst>
              <a:gd name="adj" fmla="val 50000"/>
            </a:avLst>
          </a:prstGeom>
          <a:solidFill>
            <a:srgbClr val="14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5279" y="3383280"/>
            <a:ext cx="5943600" cy="5943600"/>
          </a:xfrm>
          <a:prstGeom prst="roundRect">
            <a:avLst>
              <a:gd name="adj" fmla="val 50000"/>
            </a:avLst>
          </a:prstGeom>
          <a:solidFill>
            <a:srgbClr val="15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etwork_badge_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1051560"/>
            <a:ext cx="164592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288036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F3F4F6"/>
                </a:solidFill>
                <a:latin typeface="Segoe UI Semi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77639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300">
                <a:solidFill>
                  <a:srgbClr val="818CF8"/>
                </a:solidFill>
                <a:latin typeface="Consolas"/>
              </a:rPr>
              <a:t>ZETWORK  ·  POWERING TECH TEAM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262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Segoe UI"/>
              </a:rPr>
              <a:t>Matching developers by skill, mindset &amp; vibe.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5394960"/>
            <a:ext cx="3566160" cy="18288"/>
          </a:xfrm>
          <a:prstGeom prst="rect">
            <a:avLst/>
          </a:prstGeom>
          <a:solidFill>
            <a:srgbClr val="27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eadshot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5577840"/>
            <a:ext cx="822960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83480" y="557784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3F4F6"/>
                </a:solidFill>
                <a:latin typeface="Segoe UI Semibold"/>
              </a:rPr>
              <a:t>Boldbaatar Bolor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Cohort 2  ·  AI Academy Asia</a:t>
            </a:r>
          </a:p>
        </p:txBody>
      </p:sp>
      <p:pic>
        <p:nvPicPr>
          <p:cNvPr id="12" name="Picture 11" descr="aiacadem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5778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